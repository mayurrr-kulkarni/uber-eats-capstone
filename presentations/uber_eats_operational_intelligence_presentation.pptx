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bold r:id="rId16"/>
      <p:boldItalic r:id="rId17"/>
    </p:embeddedFont>
    <p:embeddedFont>
      <p:font typeface="Open Sans SemiBold"/>
      <p:regular r:id="rId18"/>
      <p:bold r:id="rId19"/>
      <p:italic r:id="rId20"/>
      <p:boldItalic r:id="rId21"/>
    </p:embeddedFont>
    <p:embeddedFont>
      <p:font typeface="Montserrat ExtraBold"/>
      <p:bold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italic.fntdata"/><Relationship Id="rId22" Type="http://schemas.openxmlformats.org/officeDocument/2006/relationships/font" Target="fonts/MontserratExtraBold-bold.fntdata"/><Relationship Id="rId21" Type="http://schemas.openxmlformats.org/officeDocument/2006/relationships/font" Target="fonts/OpenSansSemiBold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Montserrat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OpenSansSemiBold-bold.fntdata"/><Relationship Id="rId18" Type="http://schemas.openxmlformats.org/officeDocument/2006/relationships/font" Target="fonts/Open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03b88e976887a0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03b88e976887a0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603b88e976887a0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603b88e976887a0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603b88e976887a05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603b88e976887a05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603b88e976887a05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603b88e976887a05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603b88e976887a05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603b88e976887a05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603b88e976887a05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h603b88e976887a05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603b88e976887a05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603b88e976887a05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h603b88e976887a05_0_1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h603b88e976887a05_0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h603b88e976887a05_0_1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h603b88e976887a05_0_1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603b88e976887a05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h603b88e976887a05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03b88e976887a05_7_0)">
  <p:cSld name="Generated (h603b88e976887a05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1428750" y="-1428750"/>
            <a:ext cx="4762500" cy="4762500"/>
          </a:xfrm>
          <a:prstGeom prst="ellipse">
            <a:avLst/>
          </a:prstGeom>
          <a:solidFill>
            <a:srgbClr val="06C167">
              <a:alpha val="3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334000" y="1333500"/>
            <a:ext cx="5715000" cy="5715000"/>
          </a:xfrm>
          <a:prstGeom prst="ellipse">
            <a:avLst/>
          </a:prstGeom>
          <a:solidFill>
            <a:srgbClr val="06C167">
              <a:alpha val="2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14"/>
          <p:cNvGrpSpPr/>
          <p:nvPr/>
        </p:nvGrpSpPr>
        <p:grpSpPr>
          <a:xfrm>
            <a:off x="762000" y="1333500"/>
            <a:ext cx="7620000" cy="2333625"/>
            <a:chOff x="0" y="0"/>
            <a:chExt cx="7620000" cy="2333625"/>
          </a:xfrm>
        </p:grpSpPr>
        <p:sp>
          <p:nvSpPr>
            <p:cNvPr id="59" name="Google Shape;59;p14"/>
            <p:cNvSpPr/>
            <p:nvPr/>
          </p:nvSpPr>
          <p:spPr>
            <a:xfrm>
              <a:off x="0" y="0"/>
              <a:ext cx="1600200" cy="2667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0"/>
              <a:ext cx="16002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25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ML CAPSTONE PROJECT</a:t>
              </a:r>
              <a:endParaRPr b="1" sz="925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0" y="419100"/>
              <a:ext cx="7620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00">
                  <a:solidFill>
                    <a:srgbClr val="FFFFFF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Uber Eats Operational &amp; Customer Intelligence System</a:t>
              </a:r>
              <a:endParaRPr b="0" sz="2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  <p:pic>
          <p:nvPicPr>
            <p:cNvPr id="62" name="Google Shape;6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600200"/>
              <a:ext cx="762000" cy="28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0" y="1762125"/>
              <a:ext cx="723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rPr>
                <a:t>End-to-End Machine Learning, Segmentation, NLP, Regression, &amp; Demand Forecasting</a:t>
              </a:r>
              <a:endParaRPr b="0" sz="1300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762000" y="4095750"/>
            <a:ext cx="7620000" cy="438300"/>
            <a:chOff x="0" y="0"/>
            <a:chExt cx="7620000" cy="438300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7620000" cy="96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0" y="15240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D1D5D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Prepared by: Mayur</a:t>
              </a:r>
              <a:endParaRPr b="0" sz="925">
                <a:solidFill>
                  <a:srgbClr val="D1D5DB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5"/>
          <p:cNvGrpSpPr/>
          <p:nvPr/>
        </p:nvGrpSpPr>
        <p:grpSpPr>
          <a:xfrm>
            <a:off x="571500" y="428625"/>
            <a:ext cx="8001000" cy="743100"/>
            <a:chOff x="0" y="0"/>
            <a:chExt cx="8001000" cy="743100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Marketplace Dynamics &amp; Core Problem</a:t>
              </a:r>
              <a:endParaRPr b="1" sz="26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0" y="457200"/>
              <a:ext cx="800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Addressing friction across the three-sided food delivery ecosystem</a:t>
              </a:r>
              <a:endParaRPr b="0" sz="13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571500" y="1428750"/>
            <a:ext cx="8001000" cy="3048000"/>
            <a:chOff x="0" y="0"/>
            <a:chExt cx="8001000" cy="304800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514600" cy="3048000"/>
              <a:chOff x="0" y="0"/>
              <a:chExt cx="2514600" cy="3048000"/>
            </a:xfrm>
          </p:grpSpPr>
          <p:sp>
            <p:nvSpPr>
              <p:cNvPr id="77" name="Google Shape;77;p15"/>
              <p:cNvSpPr/>
              <p:nvPr/>
            </p:nvSpPr>
            <p:spPr>
              <a:xfrm>
                <a:off x="0" y="0"/>
                <a:ext cx="2514600" cy="3048000"/>
              </a:xfrm>
              <a:prstGeom prst="roundRect">
                <a:avLst>
                  <a:gd fmla="val 454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0" y="0"/>
                <a:ext cx="2514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228600" y="266700"/>
                <a:ext cx="7620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15"/>
              <p:cNvSpPr txBox="1"/>
              <p:nvPr/>
            </p:nvSpPr>
            <p:spPr>
              <a:xfrm>
                <a:off x="228600" y="2667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SIDE 01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15"/>
              <p:cNvSpPr txBox="1"/>
              <p:nvPr/>
            </p:nvSpPr>
            <p:spPr>
              <a:xfrm>
                <a:off x="228600" y="609600"/>
                <a:ext cx="2057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Customer Retention</a:t>
                </a:r>
                <a:endParaRPr b="1" sz="1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15"/>
              <p:cNvSpPr txBox="1"/>
              <p:nvPr/>
            </p:nvSpPr>
            <p:spPr>
              <a:xfrm>
                <a:off x="228600" y="1028700"/>
                <a:ext cx="2057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Identify distinct spending tiers and remediate friction points in delivery experience.</a:t>
                </a:r>
                <a:endParaRPr b="0" sz="110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83" name="Google Shape;83;p15"/>
            <p:cNvGrpSpPr/>
            <p:nvPr/>
          </p:nvGrpSpPr>
          <p:grpSpPr>
            <a:xfrm>
              <a:off x="2743200" y="0"/>
              <a:ext cx="2514600" cy="3048000"/>
              <a:chOff x="0" y="0"/>
              <a:chExt cx="2514600" cy="3048000"/>
            </a:xfrm>
          </p:grpSpPr>
          <p:sp>
            <p:nvSpPr>
              <p:cNvPr id="84" name="Google Shape;84;p15"/>
              <p:cNvSpPr/>
              <p:nvPr/>
            </p:nvSpPr>
            <p:spPr>
              <a:xfrm>
                <a:off x="0" y="0"/>
                <a:ext cx="2514600" cy="3048000"/>
              </a:xfrm>
              <a:prstGeom prst="roundRect">
                <a:avLst>
                  <a:gd fmla="val 454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2514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28600" y="266700"/>
                <a:ext cx="7620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5"/>
              <p:cNvSpPr txBox="1"/>
              <p:nvPr/>
            </p:nvSpPr>
            <p:spPr>
              <a:xfrm>
                <a:off x="228600" y="2667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SIDE 02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8" name="Google Shape;88;p15"/>
              <p:cNvSpPr txBox="1"/>
              <p:nvPr/>
            </p:nvSpPr>
            <p:spPr>
              <a:xfrm>
                <a:off x="228600" y="609600"/>
                <a:ext cx="2057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Vendor Operations</a:t>
                </a:r>
                <a:endParaRPr b="1" sz="1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1028700"/>
                <a:ext cx="2057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Audit kitchen preparation delays and address elevated cancellation rates.</a:t>
                </a:r>
                <a:endParaRPr b="0" sz="110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5486400" y="0"/>
              <a:ext cx="2514600" cy="3048000"/>
              <a:chOff x="0" y="0"/>
              <a:chExt cx="2514600" cy="30480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2514600" cy="3048000"/>
              </a:xfrm>
              <a:prstGeom prst="roundRect">
                <a:avLst>
                  <a:gd fmla="val 454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0" y="0"/>
                <a:ext cx="2514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28600" y="266700"/>
                <a:ext cx="7620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5"/>
              <p:cNvSpPr txBox="1"/>
              <p:nvPr/>
            </p:nvSpPr>
            <p:spPr>
              <a:xfrm>
                <a:off x="228600" y="26670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SIDE 03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609600"/>
                <a:ext cx="20574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Logistics &amp; Capacity</a:t>
                </a:r>
                <a:endParaRPr b="1" sz="1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96" name="Google Shape;96;p15"/>
              <p:cNvSpPr txBox="1"/>
              <p:nvPr/>
            </p:nvSpPr>
            <p:spPr>
              <a:xfrm>
                <a:off x="228600" y="1028700"/>
                <a:ext cx="20574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Accurately predict courier tip drivers and forecast peak hourly demand surges.</a:t>
                </a:r>
                <a:endParaRPr b="0" sz="110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16"/>
          <p:cNvGrpSpPr/>
          <p:nvPr/>
        </p:nvGrpSpPr>
        <p:grpSpPr>
          <a:xfrm>
            <a:off x="571500" y="381000"/>
            <a:ext cx="8001000" cy="628650"/>
            <a:chOff x="0" y="0"/>
            <a:chExt cx="8001000" cy="628650"/>
          </a:xfrm>
        </p:grpSpPr>
        <p:sp>
          <p:nvSpPr>
            <p:cNvPr id="104" name="Google Shape;104;p16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5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Dataset Architecture &amp; Schema</a:t>
              </a:r>
              <a:endParaRPr b="1" sz="2405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0" y="40005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Synthetic Relational Data Schema</a:t>
              </a:r>
              <a:endParaRPr b="0" sz="12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571500" y="1143000"/>
            <a:ext cx="4762500" cy="3619500"/>
            <a:chOff x="0" y="0"/>
            <a:chExt cx="4762500" cy="36195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4762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0" y="0"/>
              <a:ext cx="4762500" cy="342900"/>
            </a:xfrm>
            <a:prstGeom prst="roundRect">
              <a:avLst>
                <a:gd fmla="val 33333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0" y="342900"/>
              <a:ext cx="4762500" cy="9600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152400" y="76200"/>
              <a:ext cx="38100" cy="1905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304800" y="0"/>
              <a:ext cx="1143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ENTITY</a:t>
              </a:r>
              <a:endParaRPr b="1" sz="10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1524000" y="0"/>
              <a:ext cx="3048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SCHEMA ATTRIBUTES</a:t>
              </a:r>
              <a:endParaRPr b="1" sz="10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3" name="Google Shape;113;p16"/>
            <p:cNvGrpSpPr/>
            <p:nvPr/>
          </p:nvGrpSpPr>
          <p:grpSpPr>
            <a:xfrm>
              <a:off x="0" y="352425"/>
              <a:ext cx="4762500" cy="819225"/>
              <a:chOff x="0" y="0"/>
              <a:chExt cx="4762500" cy="819225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4762500" cy="809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/>
              <p:nvPr/>
            </p:nvSpPr>
            <p:spPr>
              <a:xfrm>
                <a:off x="0" y="809625"/>
                <a:ext cx="4762500" cy="9600"/>
              </a:xfrm>
              <a:prstGeom prst="rect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152400" y="0"/>
                <a:ext cx="1238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Orders</a:t>
                </a:r>
                <a:endParaRPr b="1" sz="11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7" name="Google Shape;117;p16"/>
              <p:cNvSpPr txBox="1"/>
              <p:nvPr/>
            </p:nvSpPr>
            <p:spPr>
              <a:xfrm>
                <a:off x="1524000" y="0"/>
                <a:ext cx="30480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order_id, customer_id, restaurant_id, order_amount, order_timestamp, order_status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18" name="Google Shape;118;p16"/>
            <p:cNvGrpSpPr/>
            <p:nvPr/>
          </p:nvGrpSpPr>
          <p:grpSpPr>
            <a:xfrm>
              <a:off x="0" y="1162050"/>
              <a:ext cx="4762500" cy="819225"/>
              <a:chOff x="0" y="0"/>
              <a:chExt cx="4762500" cy="819225"/>
            </a:xfrm>
          </p:grpSpPr>
          <p:sp>
            <p:nvSpPr>
              <p:cNvPr id="119" name="Google Shape;119;p16"/>
              <p:cNvSpPr/>
              <p:nvPr/>
            </p:nvSpPr>
            <p:spPr>
              <a:xfrm>
                <a:off x="0" y="0"/>
                <a:ext cx="4762500" cy="809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0" y="809625"/>
                <a:ext cx="4762500" cy="9600"/>
              </a:xfrm>
              <a:prstGeom prst="rect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152400" y="0"/>
                <a:ext cx="1238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Deliveries</a:t>
                </a:r>
                <a:endParaRPr b="1" sz="11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1524000" y="0"/>
                <a:ext cx="30480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delivery_id, order_id, driver_id, delivery_distance, delivery_time, traffic_condition, weather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0" y="1971675"/>
              <a:ext cx="4762500" cy="819225"/>
              <a:chOff x="0" y="0"/>
              <a:chExt cx="4762500" cy="819225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0" y="0"/>
                <a:ext cx="4762500" cy="8097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6"/>
              <p:cNvSpPr/>
              <p:nvPr/>
            </p:nvSpPr>
            <p:spPr>
              <a:xfrm>
                <a:off x="0" y="809625"/>
                <a:ext cx="4762500" cy="9600"/>
              </a:xfrm>
              <a:prstGeom prst="rect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6"/>
              <p:cNvSpPr txBox="1"/>
              <p:nvPr/>
            </p:nvSpPr>
            <p:spPr>
              <a:xfrm>
                <a:off x="152400" y="0"/>
                <a:ext cx="12384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Drivers &amp; Payments</a:t>
                </a:r>
                <a:endParaRPr b="1" sz="11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524000" y="0"/>
                <a:ext cx="30480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driver_id, vehicle_type, payment_method, tip_amount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28" name="Google Shape;128;p16"/>
            <p:cNvGrpSpPr/>
            <p:nvPr/>
          </p:nvGrpSpPr>
          <p:grpSpPr>
            <a:xfrm>
              <a:off x="0" y="2781300"/>
              <a:ext cx="4762500" cy="838200"/>
              <a:chOff x="0" y="0"/>
              <a:chExt cx="4762500" cy="838200"/>
            </a:xfrm>
          </p:grpSpPr>
          <p:sp>
            <p:nvSpPr>
              <p:cNvPr id="129" name="Google Shape;129;p16"/>
              <p:cNvSpPr/>
              <p:nvPr/>
            </p:nvSpPr>
            <p:spPr>
              <a:xfrm>
                <a:off x="0" y="0"/>
                <a:ext cx="4762500" cy="838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152400" y="0"/>
                <a:ext cx="12384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Reviews</a:t>
                </a:r>
                <a:endParaRPr b="1" sz="11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1" name="Google Shape;131;p16"/>
              <p:cNvSpPr txBox="1"/>
              <p:nvPr/>
            </p:nvSpPr>
            <p:spPr>
              <a:xfrm>
                <a:off x="1524000" y="0"/>
                <a:ext cx="30480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review_id, customer_id, restaurant_id, rating, review_text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32" name="Google Shape;132;p16"/>
          <p:cNvGrpSpPr/>
          <p:nvPr/>
        </p:nvGrpSpPr>
        <p:grpSpPr>
          <a:xfrm>
            <a:off x="5562600" y="1143000"/>
            <a:ext cx="3009900" cy="3619500"/>
            <a:chOff x="0" y="0"/>
            <a:chExt cx="3009900" cy="36195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3009900" cy="3619500"/>
            </a:xfrm>
            <a:prstGeom prst="roundRect">
              <a:avLst>
                <a:gd fmla="val 3797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0"/>
              <a:ext cx="30099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190500" y="228600"/>
              <a:ext cx="1600200" cy="2097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90500" y="228600"/>
              <a:ext cx="16002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ENGINEERING</a:t>
              </a:r>
              <a:endParaRPr b="1" sz="75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190500" y="552450"/>
              <a:ext cx="26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Key Feature Matrix</a:t>
              </a:r>
              <a:endParaRPr b="1" sz="13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38" name="Google Shape;138;p16"/>
            <p:cNvGrpSpPr/>
            <p:nvPr/>
          </p:nvGrpSpPr>
          <p:grpSpPr>
            <a:xfrm>
              <a:off x="190500" y="971550"/>
              <a:ext cx="2628900" cy="1047900"/>
              <a:chOff x="0" y="0"/>
              <a:chExt cx="2628900" cy="1047900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6"/>
              <p:cNvSpPr txBox="1"/>
              <p:nvPr/>
            </p:nvSpPr>
            <p:spPr>
              <a:xfrm>
                <a:off x="266700" y="0"/>
                <a:ext cx="2362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High-Cardinality ID Exclusion</a:t>
                </a:r>
                <a:endParaRPr b="0" sz="1050">
                  <a:solidFill>
                    <a:srgbClr val="111827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6B728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Prevents data leakage across pipeline models.</a:t>
                </a:r>
                <a:endParaRPr b="0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142" name="Google Shape;142;p16"/>
            <p:cNvCxnSpPr/>
            <p:nvPr/>
          </p:nvCxnSpPr>
          <p:spPr>
            <a:xfrm>
              <a:off x="190500" y="2114550"/>
              <a:ext cx="2628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3" name="Google Shape;143;p16"/>
            <p:cNvGrpSpPr/>
            <p:nvPr/>
          </p:nvGrpSpPr>
          <p:grpSpPr>
            <a:xfrm>
              <a:off x="190500" y="2266950"/>
              <a:ext cx="2628900" cy="1047900"/>
              <a:chOff x="0" y="0"/>
              <a:chExt cx="2628900" cy="1047900"/>
            </a:xfrm>
          </p:grpSpPr>
          <p:sp>
            <p:nvSpPr>
              <p:cNvPr id="144" name="Google Shape;144;p16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6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6"/>
              <p:cNvSpPr txBox="1"/>
              <p:nvPr/>
            </p:nvSpPr>
            <p:spPr>
              <a:xfrm>
                <a:off x="266700" y="0"/>
                <a:ext cx="23622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Environmental Integration</a:t>
                </a:r>
                <a:endParaRPr b="0" sz="1050">
                  <a:solidFill>
                    <a:srgbClr val="111827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6B728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Seamlessly combines weather, traffic, and order times.</a:t>
                </a:r>
                <a:endParaRPr b="0" sz="95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571500" y="381000"/>
            <a:ext cx="8001000" cy="628650"/>
            <a:chOff x="0" y="0"/>
            <a:chExt cx="8001000" cy="628650"/>
          </a:xfrm>
        </p:grpSpPr>
        <p:sp>
          <p:nvSpPr>
            <p:cNvPr id="154" name="Google Shape;154;p17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Cleaning &amp; Feature Pipeline</a:t>
              </a:r>
              <a:endParaRPr b="1" sz="24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0" y="40005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Preparation &amp; Quality Assurance</a:t>
              </a:r>
              <a:endParaRPr b="0" sz="12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571500" y="1428750"/>
            <a:ext cx="8001000" cy="3048000"/>
            <a:chOff x="0" y="0"/>
            <a:chExt cx="8001000" cy="3048000"/>
          </a:xfrm>
        </p:grpSpPr>
        <p:grpSp>
          <p:nvGrpSpPr>
            <p:cNvPr id="157" name="Google Shape;157;p17"/>
            <p:cNvGrpSpPr/>
            <p:nvPr/>
          </p:nvGrpSpPr>
          <p:grpSpPr>
            <a:xfrm>
              <a:off x="0" y="0"/>
              <a:ext cx="1828800" cy="3048000"/>
              <a:chOff x="0" y="0"/>
              <a:chExt cx="1828800" cy="3048000"/>
            </a:xfrm>
          </p:grpSpPr>
          <p:sp>
            <p:nvSpPr>
              <p:cNvPr id="158" name="Google Shape;158;p17"/>
              <p:cNvSpPr/>
              <p:nvPr/>
            </p:nvSpPr>
            <p:spPr>
              <a:xfrm>
                <a:off x="0" y="0"/>
                <a:ext cx="1828800" cy="3048000"/>
              </a:xfrm>
              <a:prstGeom prst="roundRect">
                <a:avLst>
                  <a:gd fmla="val 625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0" y="0"/>
                <a:ext cx="1828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152400" y="228600"/>
                <a:ext cx="6096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152400" y="228600"/>
                <a:ext cx="6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STEP 01</a:t>
                </a:r>
                <a:endParaRPr b="1" sz="11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152400" y="533400"/>
                <a:ext cx="1524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Missing Value Imputation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152400" y="1066800"/>
                <a:ext cx="1524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Handled missing numerical values using feature medians; removed broken records.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64" name="Google Shape;164;p17"/>
            <p:cNvSpPr/>
            <p:nvPr/>
          </p:nvSpPr>
          <p:spPr>
            <a:xfrm>
              <a:off x="1924050" y="1447800"/>
              <a:ext cx="7620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6C1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" name="Google Shape;165;p17"/>
            <p:cNvGrpSpPr/>
            <p:nvPr/>
          </p:nvGrpSpPr>
          <p:grpSpPr>
            <a:xfrm>
              <a:off x="2057400" y="0"/>
              <a:ext cx="1828800" cy="3048000"/>
              <a:chOff x="0" y="0"/>
              <a:chExt cx="1828800" cy="3048000"/>
            </a:xfrm>
          </p:grpSpPr>
          <p:sp>
            <p:nvSpPr>
              <p:cNvPr id="166" name="Google Shape;166;p17"/>
              <p:cNvSpPr/>
              <p:nvPr/>
            </p:nvSpPr>
            <p:spPr>
              <a:xfrm>
                <a:off x="0" y="0"/>
                <a:ext cx="1828800" cy="3048000"/>
              </a:xfrm>
              <a:prstGeom prst="roundRect">
                <a:avLst>
                  <a:gd fmla="val 625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0" y="0"/>
                <a:ext cx="1828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152400" y="228600"/>
                <a:ext cx="6096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152400" y="228600"/>
                <a:ext cx="6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STEP 02</a:t>
                </a:r>
                <a:endParaRPr b="1" sz="11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0" name="Google Shape;170;p17"/>
              <p:cNvSpPr txBox="1"/>
              <p:nvPr/>
            </p:nvSpPr>
            <p:spPr>
              <a:xfrm>
                <a:off x="152400" y="533400"/>
                <a:ext cx="1524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Identifier Scrubbing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152400" y="1066800"/>
                <a:ext cx="1524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Dropped primary keys (order_id, customer_id, driver_id) before model training.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72" name="Google Shape;172;p17"/>
            <p:cNvSpPr/>
            <p:nvPr/>
          </p:nvSpPr>
          <p:spPr>
            <a:xfrm>
              <a:off x="3981450" y="1447800"/>
              <a:ext cx="7620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6C1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3" name="Google Shape;173;p17"/>
            <p:cNvGrpSpPr/>
            <p:nvPr/>
          </p:nvGrpSpPr>
          <p:grpSpPr>
            <a:xfrm>
              <a:off x="4114800" y="0"/>
              <a:ext cx="1828800" cy="3048000"/>
              <a:chOff x="0" y="0"/>
              <a:chExt cx="1828800" cy="3048000"/>
            </a:xfrm>
          </p:grpSpPr>
          <p:sp>
            <p:nvSpPr>
              <p:cNvPr id="174" name="Google Shape;174;p17"/>
              <p:cNvSpPr/>
              <p:nvPr/>
            </p:nvSpPr>
            <p:spPr>
              <a:xfrm>
                <a:off x="0" y="0"/>
                <a:ext cx="1828800" cy="3048000"/>
              </a:xfrm>
              <a:prstGeom prst="roundRect">
                <a:avLst>
                  <a:gd fmla="val 625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0" y="0"/>
                <a:ext cx="1828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152400" y="228600"/>
                <a:ext cx="6096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7"/>
              <p:cNvSpPr txBox="1"/>
              <p:nvPr/>
            </p:nvSpPr>
            <p:spPr>
              <a:xfrm>
                <a:off x="152400" y="228600"/>
                <a:ext cx="6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STEP 03</a:t>
                </a:r>
                <a:endParaRPr b="1" sz="11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17"/>
              <p:cNvSpPr txBox="1"/>
              <p:nvPr/>
            </p:nvSpPr>
            <p:spPr>
              <a:xfrm>
                <a:off x="152400" y="533400"/>
                <a:ext cx="1524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Categorical Encoding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9" name="Google Shape;179;p17"/>
              <p:cNvSpPr txBox="1"/>
              <p:nvPr/>
            </p:nvSpPr>
            <p:spPr>
              <a:xfrm>
                <a:off x="152400" y="1066800"/>
                <a:ext cx="1524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One-Hot Encoded weather, traffic, vehicle types, and payment methods.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180" name="Google Shape;180;p17"/>
            <p:cNvSpPr/>
            <p:nvPr/>
          </p:nvSpPr>
          <p:spPr>
            <a:xfrm>
              <a:off x="6038850" y="1447800"/>
              <a:ext cx="76200" cy="152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06C1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17"/>
            <p:cNvGrpSpPr/>
            <p:nvPr/>
          </p:nvGrpSpPr>
          <p:grpSpPr>
            <a:xfrm>
              <a:off x="6172200" y="0"/>
              <a:ext cx="1828800" cy="3048000"/>
              <a:chOff x="0" y="0"/>
              <a:chExt cx="1828800" cy="3048000"/>
            </a:xfrm>
          </p:grpSpPr>
          <p:sp>
            <p:nvSpPr>
              <p:cNvPr id="182" name="Google Shape;182;p17"/>
              <p:cNvSpPr/>
              <p:nvPr/>
            </p:nvSpPr>
            <p:spPr>
              <a:xfrm>
                <a:off x="0" y="0"/>
                <a:ext cx="1828800" cy="3048000"/>
              </a:xfrm>
              <a:prstGeom prst="roundRect">
                <a:avLst>
                  <a:gd fmla="val 6250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0" y="0"/>
                <a:ext cx="1828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152400" y="228600"/>
                <a:ext cx="6096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7"/>
              <p:cNvSpPr txBox="1"/>
              <p:nvPr/>
            </p:nvSpPr>
            <p:spPr>
              <a:xfrm>
                <a:off x="152400" y="228600"/>
                <a:ext cx="609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STEP 04</a:t>
                </a:r>
                <a:endParaRPr b="1" sz="11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17"/>
              <p:cNvSpPr txBox="1"/>
              <p:nvPr/>
            </p:nvSpPr>
            <p:spPr>
              <a:xfrm>
                <a:off x="152400" y="533400"/>
                <a:ext cx="1524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Feature Standardization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17"/>
              <p:cNvSpPr txBox="1"/>
              <p:nvPr/>
            </p:nvSpPr>
            <p:spPr>
              <a:xfrm>
                <a:off x="152400" y="1066800"/>
                <a:ext cx="1524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Applied StandardScaler to normalize distance, monetary values, and preparation times.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" name="Google Shape;194;p18"/>
          <p:cNvGrpSpPr/>
          <p:nvPr/>
        </p:nvGrpSpPr>
        <p:grpSpPr>
          <a:xfrm>
            <a:off x="571500" y="381000"/>
            <a:ext cx="8001000" cy="628650"/>
            <a:chOff x="0" y="0"/>
            <a:chExt cx="8001000" cy="628650"/>
          </a:xfrm>
        </p:grpSpPr>
        <p:sp>
          <p:nvSpPr>
            <p:cNvPr id="195" name="Google Shape;195;p18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Behavioral Segmentation: K-Means &amp; DBSCAN</a:t>
              </a:r>
              <a:endParaRPr b="1" sz="24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0" y="40005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Unsupervised Machine Learning &amp; Behavioral Cluster Analysis</a:t>
              </a:r>
              <a:endParaRPr b="0" sz="12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1143000"/>
            <a:ext cx="3886200" cy="3619500"/>
            <a:chOff x="0" y="0"/>
            <a:chExt cx="3886200" cy="36195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86200" cy="3619500"/>
            </a:xfrm>
            <a:prstGeom prst="roundRect">
              <a:avLst>
                <a:gd fmla="val 31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190500" y="190500"/>
              <a:ext cx="1714500" cy="1905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190500" y="1905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METHODOLOGY &amp; EVALUATION</a:t>
              </a:r>
              <a:endParaRPr b="1" sz="8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190500" y="476250"/>
              <a:ext cx="3505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Unsupervised Framework</a:t>
              </a:r>
              <a:endParaRPr b="1" sz="13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03" name="Google Shape;203;p18"/>
            <p:cNvGrpSpPr/>
            <p:nvPr/>
          </p:nvGrpSpPr>
          <p:grpSpPr>
            <a:xfrm>
              <a:off x="190500" y="857250"/>
              <a:ext cx="3505200" cy="714300"/>
              <a:chOff x="0" y="0"/>
              <a:chExt cx="3505200" cy="714300"/>
            </a:xfrm>
          </p:grpSpPr>
          <p:sp>
            <p:nvSpPr>
              <p:cNvPr id="204" name="Google Shape;204;p18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8"/>
              <p:cNvSpPr txBox="1"/>
              <p:nvPr/>
            </p:nvSpPr>
            <p:spPr>
              <a:xfrm>
                <a:off x="266700" y="0"/>
                <a:ext cx="3238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Elbow &amp; Silhouette Analysis</a:t>
                </a:r>
                <a:endParaRPr b="0" sz="10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Evaluated optimal cluster count (k=3/4) to maximize cohesion and separation.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207" name="Google Shape;207;p18"/>
            <p:cNvCxnSpPr/>
            <p:nvPr/>
          </p:nvCxnSpPr>
          <p:spPr>
            <a:xfrm>
              <a:off x="190500" y="1666875"/>
              <a:ext cx="3505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08" name="Google Shape;208;p18"/>
            <p:cNvGrpSpPr/>
            <p:nvPr/>
          </p:nvGrpSpPr>
          <p:grpSpPr>
            <a:xfrm>
              <a:off x="190500" y="1762125"/>
              <a:ext cx="3505200" cy="714300"/>
              <a:chOff x="0" y="0"/>
              <a:chExt cx="3505200" cy="714300"/>
            </a:xfrm>
          </p:grpSpPr>
          <p:sp>
            <p:nvSpPr>
              <p:cNvPr id="209" name="Google Shape;209;p18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8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8"/>
              <p:cNvSpPr txBox="1"/>
              <p:nvPr/>
            </p:nvSpPr>
            <p:spPr>
              <a:xfrm>
                <a:off x="266700" y="0"/>
                <a:ext cx="3238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DBSCAN Clustering</a:t>
                </a:r>
                <a:endParaRPr b="0" sz="10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Effectively isolated sparse noise, non-spherical groups, and behavioral outliers.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212" name="Google Shape;212;p18"/>
            <p:cNvCxnSpPr/>
            <p:nvPr/>
          </p:nvCxnSpPr>
          <p:spPr>
            <a:xfrm>
              <a:off x="190500" y="2571750"/>
              <a:ext cx="3505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3" name="Google Shape;213;p18"/>
            <p:cNvGrpSpPr/>
            <p:nvPr/>
          </p:nvGrpSpPr>
          <p:grpSpPr>
            <a:xfrm>
              <a:off x="190500" y="2667000"/>
              <a:ext cx="3505200" cy="714300"/>
              <a:chOff x="0" y="0"/>
              <a:chExt cx="3505200" cy="714300"/>
            </a:xfrm>
          </p:grpSpPr>
          <p:sp>
            <p:nvSpPr>
              <p:cNvPr id="214" name="Google Shape;214;p18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18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8"/>
              <p:cNvSpPr txBox="1"/>
              <p:nvPr/>
            </p:nvSpPr>
            <p:spPr>
              <a:xfrm>
                <a:off x="266700" y="0"/>
                <a:ext cx="3238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PCA Dimensionality Reduction</a:t>
                </a:r>
                <a:endParaRPr b="0" sz="10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Compressed features into 2 Principal Components for 2D visual cluster validation.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17" name="Google Shape;217;p18"/>
          <p:cNvGrpSpPr/>
          <p:nvPr/>
        </p:nvGrpSpPr>
        <p:grpSpPr>
          <a:xfrm>
            <a:off x="4686300" y="1143000"/>
            <a:ext cx="3886200" cy="3619500"/>
            <a:chOff x="0" y="0"/>
            <a:chExt cx="3886200" cy="3619500"/>
          </a:xfrm>
        </p:grpSpPr>
        <p:sp>
          <p:nvSpPr>
            <p:cNvPr id="218" name="Google Shape;218;p18"/>
            <p:cNvSpPr/>
            <p:nvPr/>
          </p:nvSpPr>
          <p:spPr>
            <a:xfrm>
              <a:off x="0" y="0"/>
              <a:ext cx="3886200" cy="3619500"/>
            </a:xfrm>
            <a:prstGeom prst="roundRect">
              <a:avLst>
                <a:gd fmla="val 31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0" y="0"/>
              <a:ext cx="38862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190500" y="190500"/>
              <a:ext cx="1714500" cy="1905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 txBox="1"/>
            <p:nvPr/>
          </p:nvSpPr>
          <p:spPr>
            <a:xfrm>
              <a:off x="190500" y="1905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DERIVED SEGMENTS</a:t>
              </a:r>
              <a:endParaRPr b="1" sz="8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190500" y="476250"/>
              <a:ext cx="3505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Discovered Cluster Profiles</a:t>
              </a:r>
              <a:endParaRPr b="1" sz="13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23" name="Google Shape;223;p18"/>
            <p:cNvGrpSpPr/>
            <p:nvPr/>
          </p:nvGrpSpPr>
          <p:grpSpPr>
            <a:xfrm>
              <a:off x="190500" y="857250"/>
              <a:ext cx="3505200" cy="714300"/>
              <a:chOff x="0" y="0"/>
              <a:chExt cx="3505200" cy="714300"/>
            </a:xfrm>
          </p:grpSpPr>
          <p:sp>
            <p:nvSpPr>
              <p:cNvPr id="224" name="Google Shape;224;p18"/>
              <p:cNvSpPr/>
              <p:nvPr/>
            </p:nvSpPr>
            <p:spPr>
              <a:xfrm>
                <a:off x="0" y="0"/>
                <a:ext cx="2286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 txBox="1"/>
              <p:nvPr/>
            </p:nvSpPr>
            <p:spPr>
              <a:xfrm>
                <a:off x="0" y="0"/>
                <a:ext cx="228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01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6" name="Google Shape;226;p18"/>
              <p:cNvSpPr txBox="1"/>
              <p:nvPr/>
            </p:nvSpPr>
            <p:spPr>
              <a:xfrm>
                <a:off x="304800" y="0"/>
                <a:ext cx="3200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Cluster 1 – Premium Frequent Diners</a:t>
                </a:r>
                <a:endParaRPr b="0" sz="10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High average order value, frequent weekend/late-night ordering patterns.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227" name="Google Shape;227;p18"/>
            <p:cNvCxnSpPr/>
            <p:nvPr/>
          </p:nvCxnSpPr>
          <p:spPr>
            <a:xfrm>
              <a:off x="190500" y="1666875"/>
              <a:ext cx="3505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8" name="Google Shape;228;p18"/>
            <p:cNvGrpSpPr/>
            <p:nvPr/>
          </p:nvGrpSpPr>
          <p:grpSpPr>
            <a:xfrm>
              <a:off x="190500" y="1762125"/>
              <a:ext cx="3505200" cy="714300"/>
              <a:chOff x="0" y="0"/>
              <a:chExt cx="3505200" cy="714300"/>
            </a:xfrm>
          </p:grpSpPr>
          <p:sp>
            <p:nvSpPr>
              <p:cNvPr id="229" name="Google Shape;229;p18"/>
              <p:cNvSpPr/>
              <p:nvPr/>
            </p:nvSpPr>
            <p:spPr>
              <a:xfrm>
                <a:off x="0" y="0"/>
                <a:ext cx="2286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8"/>
              <p:cNvSpPr txBox="1"/>
              <p:nvPr/>
            </p:nvSpPr>
            <p:spPr>
              <a:xfrm>
                <a:off x="0" y="0"/>
                <a:ext cx="228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02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31" name="Google Shape;231;p18"/>
              <p:cNvSpPr txBox="1"/>
              <p:nvPr/>
            </p:nvSpPr>
            <p:spPr>
              <a:xfrm>
                <a:off x="304800" y="0"/>
                <a:ext cx="3200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Cluster 2 – Occasional Budget Diners</a:t>
                </a:r>
                <a:endParaRPr b="0" sz="10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Low basket size, high sensitivity to promotions, discounts, and fee waiving.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232" name="Google Shape;232;p18"/>
            <p:cNvCxnSpPr/>
            <p:nvPr/>
          </p:nvCxnSpPr>
          <p:spPr>
            <a:xfrm>
              <a:off x="190500" y="2571750"/>
              <a:ext cx="35052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33" name="Google Shape;233;p18"/>
            <p:cNvGrpSpPr/>
            <p:nvPr/>
          </p:nvGrpSpPr>
          <p:grpSpPr>
            <a:xfrm>
              <a:off x="190500" y="2667000"/>
              <a:ext cx="3505200" cy="714300"/>
              <a:chOff x="0" y="0"/>
              <a:chExt cx="3505200" cy="714300"/>
            </a:xfrm>
          </p:grpSpPr>
          <p:sp>
            <p:nvSpPr>
              <p:cNvPr id="234" name="Google Shape;234;p18"/>
              <p:cNvSpPr/>
              <p:nvPr/>
            </p:nvSpPr>
            <p:spPr>
              <a:xfrm>
                <a:off x="0" y="0"/>
                <a:ext cx="2286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6C167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8"/>
              <p:cNvSpPr txBox="1"/>
              <p:nvPr/>
            </p:nvSpPr>
            <p:spPr>
              <a:xfrm>
                <a:off x="0" y="0"/>
                <a:ext cx="2286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03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36" name="Google Shape;236;p18"/>
              <p:cNvSpPr txBox="1"/>
              <p:nvPr/>
            </p:nvSpPr>
            <p:spPr>
              <a:xfrm>
                <a:off x="304800" y="0"/>
                <a:ext cx="32004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1E293B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rPr>
                  <a:t>Cluster 3 – Operational Intervention Vendors</a:t>
                </a:r>
                <a:endParaRPr b="0" sz="1000">
                  <a:solidFill>
                    <a:srgbClr val="1E293B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High cancellation rates and protracted kitchen preparation delays.</a:t>
                </a:r>
                <a:endParaRPr b="0" sz="950">
                  <a:solidFill>
                    <a:srgbClr val="4B5563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" name="Google Shape;243;p19"/>
          <p:cNvGrpSpPr/>
          <p:nvPr/>
        </p:nvGrpSpPr>
        <p:grpSpPr>
          <a:xfrm>
            <a:off x="571500" y="333375"/>
            <a:ext cx="8001000" cy="523875"/>
            <a:chOff x="0" y="0"/>
            <a:chExt cx="8001000" cy="523875"/>
          </a:xfrm>
        </p:grpSpPr>
        <p:sp>
          <p:nvSpPr>
            <p:cNvPr id="244" name="Google Shape;244;p19"/>
            <p:cNvSpPr txBox="1"/>
            <p:nvPr/>
          </p:nvSpPr>
          <p:spPr>
            <a:xfrm>
              <a:off x="0" y="0"/>
              <a:ext cx="8001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4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Customer Feedback &amp; Sentiment Extraction</a:t>
              </a:r>
              <a:endParaRPr b="1" sz="204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0" y="333375"/>
              <a:ext cx="800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Natural Language Processing &amp; Review Intelligence</a:t>
              </a:r>
              <a:endParaRPr b="0" sz="11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6" name="Google Shape;246;p19"/>
          <p:cNvGrpSpPr/>
          <p:nvPr/>
        </p:nvGrpSpPr>
        <p:grpSpPr>
          <a:xfrm>
            <a:off x="571500" y="952500"/>
            <a:ext cx="8001000" cy="1238400"/>
            <a:chOff x="0" y="0"/>
            <a:chExt cx="8001000" cy="1238400"/>
          </a:xfrm>
        </p:grpSpPr>
        <p:sp>
          <p:nvSpPr>
            <p:cNvPr id="247" name="Google Shape;247;p19"/>
            <p:cNvSpPr/>
            <p:nvPr/>
          </p:nvSpPr>
          <p:spPr>
            <a:xfrm>
              <a:off x="0" y="0"/>
              <a:ext cx="8001000" cy="1238400"/>
            </a:xfrm>
            <a:prstGeom prst="roundRect">
              <a:avLst>
                <a:gd fmla="val 923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0" y="0"/>
              <a:ext cx="80010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190500" y="142875"/>
              <a:ext cx="1238400" cy="1905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 txBox="1"/>
            <p:nvPr/>
          </p:nvSpPr>
          <p:spPr>
            <a:xfrm>
              <a:off x="190500" y="142875"/>
              <a:ext cx="1238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NLP PIPELINE</a:t>
              </a:r>
              <a:endParaRPr b="1" sz="8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51" name="Google Shape;251;p19"/>
            <p:cNvGrpSpPr/>
            <p:nvPr/>
          </p:nvGrpSpPr>
          <p:grpSpPr>
            <a:xfrm>
              <a:off x="190500" y="457200"/>
              <a:ext cx="7620000" cy="590700"/>
              <a:chOff x="0" y="0"/>
              <a:chExt cx="7620000" cy="590700"/>
            </a:xfrm>
          </p:grpSpPr>
          <p:grpSp>
            <p:nvGrpSpPr>
              <p:cNvPr id="252" name="Google Shape;252;p19"/>
              <p:cNvGrpSpPr/>
              <p:nvPr/>
            </p:nvGrpSpPr>
            <p:grpSpPr>
              <a:xfrm>
                <a:off x="0" y="0"/>
                <a:ext cx="1333500" cy="590700"/>
                <a:chOff x="0" y="0"/>
                <a:chExt cx="1333500" cy="590700"/>
              </a:xfrm>
            </p:grpSpPr>
            <p:sp>
              <p:nvSpPr>
                <p:cNvPr id="253" name="Google Shape;253;p19"/>
                <p:cNvSpPr/>
                <p:nvPr/>
              </p:nvSpPr>
              <p:spPr>
                <a:xfrm>
                  <a:off x="0" y="0"/>
                  <a:ext cx="1333500" cy="590700"/>
                </a:xfrm>
                <a:prstGeom prst="roundRect">
                  <a:avLst>
                    <a:gd fmla="val 12903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19"/>
                <p:cNvSpPr txBox="1"/>
                <p:nvPr/>
              </p:nvSpPr>
              <p:spPr>
                <a:xfrm>
                  <a:off x="0" y="0"/>
                  <a:ext cx="1333500" cy="590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Lowercasing</a:t>
                  </a:r>
                  <a:endParaRPr b="1" sz="9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255" name="Google Shape;255;p19"/>
              <p:cNvSpPr/>
              <p:nvPr/>
            </p:nvSpPr>
            <p:spPr>
              <a:xfrm>
                <a:off x="1428750" y="238125"/>
                <a:ext cx="57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6" name="Google Shape;256;p19"/>
              <p:cNvGrpSpPr/>
              <p:nvPr/>
            </p:nvGrpSpPr>
            <p:grpSpPr>
              <a:xfrm>
                <a:off x="1571625" y="0"/>
                <a:ext cx="1333500" cy="590700"/>
                <a:chOff x="0" y="0"/>
                <a:chExt cx="1333500" cy="590700"/>
              </a:xfrm>
            </p:grpSpPr>
            <p:sp>
              <p:nvSpPr>
                <p:cNvPr id="257" name="Google Shape;257;p19"/>
                <p:cNvSpPr/>
                <p:nvPr/>
              </p:nvSpPr>
              <p:spPr>
                <a:xfrm>
                  <a:off x="0" y="0"/>
                  <a:ext cx="1333500" cy="590700"/>
                </a:xfrm>
                <a:prstGeom prst="roundRect">
                  <a:avLst>
                    <a:gd fmla="val 12903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" name="Google Shape;258;p19"/>
                <p:cNvSpPr txBox="1"/>
                <p:nvPr/>
              </p:nvSpPr>
              <p:spPr>
                <a:xfrm>
                  <a:off x="0" y="0"/>
                  <a:ext cx="1333500" cy="590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Tokenization</a:t>
                  </a:r>
                  <a:endParaRPr b="1" sz="9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259" name="Google Shape;259;p19"/>
              <p:cNvSpPr/>
              <p:nvPr/>
            </p:nvSpPr>
            <p:spPr>
              <a:xfrm>
                <a:off x="3000375" y="238125"/>
                <a:ext cx="57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0" name="Google Shape;260;p19"/>
              <p:cNvGrpSpPr/>
              <p:nvPr/>
            </p:nvGrpSpPr>
            <p:grpSpPr>
              <a:xfrm>
                <a:off x="3143250" y="0"/>
                <a:ext cx="1333500" cy="590700"/>
                <a:chOff x="0" y="0"/>
                <a:chExt cx="1333500" cy="590700"/>
              </a:xfrm>
            </p:grpSpPr>
            <p:sp>
              <p:nvSpPr>
                <p:cNvPr id="261" name="Google Shape;261;p19"/>
                <p:cNvSpPr/>
                <p:nvPr/>
              </p:nvSpPr>
              <p:spPr>
                <a:xfrm>
                  <a:off x="0" y="0"/>
                  <a:ext cx="1333500" cy="590700"/>
                </a:xfrm>
                <a:prstGeom prst="roundRect">
                  <a:avLst>
                    <a:gd fmla="val 12903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19"/>
                <p:cNvSpPr txBox="1"/>
                <p:nvPr/>
              </p:nvSpPr>
              <p:spPr>
                <a:xfrm>
                  <a:off x="0" y="0"/>
                  <a:ext cx="1333500" cy="590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Stop-Word Removal</a:t>
                  </a:r>
                  <a:endParaRPr b="1" sz="9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263" name="Google Shape;263;p19"/>
              <p:cNvSpPr/>
              <p:nvPr/>
            </p:nvSpPr>
            <p:spPr>
              <a:xfrm>
                <a:off x="4572000" y="238125"/>
                <a:ext cx="57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4" name="Google Shape;264;p19"/>
              <p:cNvGrpSpPr/>
              <p:nvPr/>
            </p:nvGrpSpPr>
            <p:grpSpPr>
              <a:xfrm>
                <a:off x="4714875" y="0"/>
                <a:ext cx="1333500" cy="590700"/>
                <a:chOff x="0" y="0"/>
                <a:chExt cx="1333500" cy="590700"/>
              </a:xfrm>
            </p:grpSpPr>
            <p:sp>
              <p:nvSpPr>
                <p:cNvPr id="265" name="Google Shape;265;p19"/>
                <p:cNvSpPr/>
                <p:nvPr/>
              </p:nvSpPr>
              <p:spPr>
                <a:xfrm>
                  <a:off x="0" y="0"/>
                  <a:ext cx="1333500" cy="590700"/>
                </a:xfrm>
                <a:prstGeom prst="roundRect">
                  <a:avLst>
                    <a:gd fmla="val 12903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19"/>
                <p:cNvSpPr txBox="1"/>
                <p:nvPr/>
              </p:nvSpPr>
              <p:spPr>
                <a:xfrm>
                  <a:off x="0" y="0"/>
                  <a:ext cx="1333500" cy="590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Lemmatization</a:t>
                  </a:r>
                  <a:endParaRPr b="1" sz="9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sp>
            <p:nvSpPr>
              <p:cNvPr id="267" name="Google Shape;267;p19"/>
              <p:cNvSpPr/>
              <p:nvPr/>
            </p:nvSpPr>
            <p:spPr>
              <a:xfrm>
                <a:off x="6143625" y="238125"/>
                <a:ext cx="573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8" name="Google Shape;268;p19"/>
              <p:cNvGrpSpPr/>
              <p:nvPr/>
            </p:nvGrpSpPr>
            <p:grpSpPr>
              <a:xfrm>
                <a:off x="6286500" y="0"/>
                <a:ext cx="1333500" cy="590700"/>
                <a:chOff x="0" y="0"/>
                <a:chExt cx="1333500" cy="590700"/>
              </a:xfrm>
            </p:grpSpPr>
            <p:sp>
              <p:nvSpPr>
                <p:cNvPr id="269" name="Google Shape;269;p19"/>
                <p:cNvSpPr/>
                <p:nvPr/>
              </p:nvSpPr>
              <p:spPr>
                <a:xfrm>
                  <a:off x="0" y="0"/>
                  <a:ext cx="1333500" cy="590700"/>
                </a:xfrm>
                <a:prstGeom prst="roundRect">
                  <a:avLst>
                    <a:gd fmla="val 12903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19"/>
                <p:cNvSpPr txBox="1"/>
                <p:nvPr/>
              </p:nvSpPr>
              <p:spPr>
                <a:xfrm>
                  <a:off x="0" y="0"/>
                  <a:ext cx="1333500" cy="590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TF-IDF Vectorization</a:t>
                  </a:r>
                  <a:endParaRPr b="1" sz="9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</p:grpSp>
      <p:grpSp>
        <p:nvGrpSpPr>
          <p:cNvPr id="271" name="Google Shape;271;p19"/>
          <p:cNvGrpSpPr/>
          <p:nvPr/>
        </p:nvGrpSpPr>
        <p:grpSpPr>
          <a:xfrm>
            <a:off x="571500" y="2381250"/>
            <a:ext cx="8001000" cy="2476500"/>
            <a:chOff x="0" y="0"/>
            <a:chExt cx="8001000" cy="2476500"/>
          </a:xfrm>
        </p:grpSpPr>
        <p:grpSp>
          <p:nvGrpSpPr>
            <p:cNvPr id="272" name="Google Shape;272;p19"/>
            <p:cNvGrpSpPr/>
            <p:nvPr/>
          </p:nvGrpSpPr>
          <p:grpSpPr>
            <a:xfrm>
              <a:off x="0" y="0"/>
              <a:ext cx="3886200" cy="2476500"/>
              <a:chOff x="0" y="0"/>
              <a:chExt cx="3886200" cy="2476500"/>
            </a:xfrm>
          </p:grpSpPr>
          <p:sp>
            <p:nvSpPr>
              <p:cNvPr id="273" name="Google Shape;273;p19"/>
              <p:cNvSpPr/>
              <p:nvPr/>
            </p:nvSpPr>
            <p:spPr>
              <a:xfrm>
                <a:off x="0" y="0"/>
                <a:ext cx="3886200" cy="2476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0" y="0"/>
                <a:ext cx="38862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190500" y="152400"/>
                <a:ext cx="15240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9"/>
              <p:cNvSpPr txBox="1"/>
              <p:nvPr/>
            </p:nvSpPr>
            <p:spPr>
              <a:xfrm>
                <a:off x="190500" y="15240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MODEL BENCHMARK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77" name="Google Shape;277;p19"/>
              <p:cNvSpPr txBox="1"/>
              <p:nvPr/>
            </p:nvSpPr>
            <p:spPr>
              <a:xfrm>
                <a:off x="190500" y="419100"/>
                <a:ext cx="3505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Naive Bayes vs. VADER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278" name="Google Shape;278;p19"/>
              <p:cNvGrpSpPr/>
              <p:nvPr/>
            </p:nvGrpSpPr>
            <p:grpSpPr>
              <a:xfrm>
                <a:off x="190500" y="742950"/>
                <a:ext cx="3619500" cy="781050"/>
                <a:chOff x="0" y="0"/>
                <a:chExt cx="3619500" cy="781050"/>
              </a:xfrm>
            </p:grpSpPr>
            <p:sp>
              <p:nvSpPr>
                <p:cNvPr id="279" name="Google Shape;279;p19"/>
                <p:cNvSpPr/>
                <p:nvPr/>
              </p:nvSpPr>
              <p:spPr>
                <a:xfrm>
                  <a:off x="0" y="0"/>
                  <a:ext cx="3505200" cy="6858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19"/>
                <p:cNvSpPr txBox="1"/>
                <p:nvPr/>
              </p:nvSpPr>
              <p:spPr>
                <a:xfrm>
                  <a:off x="114300" y="95250"/>
                  <a:ext cx="3505200" cy="685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Naive Bayes Baseline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Strong baseline classification on tokenized TF-IDF vocabulary.</a:t>
                  </a:r>
                  <a:endParaRPr b="0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281" name="Google Shape;281;p19"/>
              <p:cNvGrpSpPr/>
              <p:nvPr/>
            </p:nvGrpSpPr>
            <p:grpSpPr>
              <a:xfrm>
                <a:off x="190500" y="1524000"/>
                <a:ext cx="3619500" cy="876450"/>
                <a:chOff x="0" y="0"/>
                <a:chExt cx="3619500" cy="876450"/>
              </a:xfrm>
            </p:grpSpPr>
            <p:sp>
              <p:nvSpPr>
                <p:cNvPr id="282" name="Google Shape;282;p19"/>
                <p:cNvSpPr/>
                <p:nvPr/>
              </p:nvSpPr>
              <p:spPr>
                <a:xfrm>
                  <a:off x="0" y="0"/>
                  <a:ext cx="3505200" cy="781200"/>
                </a:xfrm>
                <a:prstGeom prst="roundRect">
                  <a:avLst>
                    <a:gd fmla="val 9756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19"/>
                <p:cNvSpPr txBox="1"/>
                <p:nvPr/>
              </p:nvSpPr>
              <p:spPr>
                <a:xfrm>
                  <a:off x="114300" y="95250"/>
                  <a:ext cx="3505200" cy="781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VADER Lexicon </a:t>
                  </a:r>
                  <a:r>
                    <a:rPr b="1" lang="en" sz="750">
                      <a:solidFill>
                        <a:srgbClr val="FFFFFF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OUTPERFORMED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Outperformed on short, informal reviews by capturing punctuation, capitalization, and emoji sentiment.</a:t>
                  </a:r>
                  <a:endParaRPr b="0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284" name="Google Shape;284;p19"/>
            <p:cNvGrpSpPr/>
            <p:nvPr/>
          </p:nvGrpSpPr>
          <p:grpSpPr>
            <a:xfrm>
              <a:off x="4114800" y="0"/>
              <a:ext cx="3886200" cy="2476500"/>
              <a:chOff x="0" y="0"/>
              <a:chExt cx="3886200" cy="2476500"/>
            </a:xfrm>
          </p:grpSpPr>
          <p:sp>
            <p:nvSpPr>
              <p:cNvPr id="285" name="Google Shape;285;p19"/>
              <p:cNvSpPr/>
              <p:nvPr/>
            </p:nvSpPr>
            <p:spPr>
              <a:xfrm>
                <a:off x="0" y="0"/>
                <a:ext cx="3886200" cy="2476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0" y="0"/>
                <a:ext cx="38862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190500" y="1524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EF4444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9"/>
              <p:cNvSpPr txBox="1"/>
              <p:nvPr/>
            </p:nvSpPr>
            <p:spPr>
              <a:xfrm>
                <a:off x="190500" y="1524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EF4444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TF-IDF TOP NEGATIVES</a:t>
                </a:r>
                <a:endParaRPr b="1" sz="80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89" name="Google Shape;289;p19"/>
              <p:cNvSpPr txBox="1"/>
              <p:nvPr/>
            </p:nvSpPr>
            <p:spPr>
              <a:xfrm>
                <a:off x="190500" y="419100"/>
                <a:ext cx="3505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Key Complaint Drivers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290" name="Google Shape;290;p19"/>
              <p:cNvGrpSpPr/>
              <p:nvPr/>
            </p:nvGrpSpPr>
            <p:grpSpPr>
              <a:xfrm>
                <a:off x="190500" y="742950"/>
                <a:ext cx="3505200" cy="1524000"/>
                <a:chOff x="0" y="0"/>
                <a:chExt cx="3505200" cy="1524000"/>
              </a:xfrm>
            </p:grpSpPr>
            <p:grpSp>
              <p:nvGrpSpPr>
                <p:cNvPr id="291" name="Google Shape;291;p19"/>
                <p:cNvGrpSpPr/>
                <p:nvPr/>
              </p:nvGrpSpPr>
              <p:grpSpPr>
                <a:xfrm>
                  <a:off x="0" y="0"/>
                  <a:ext cx="3505200" cy="457200"/>
                  <a:chOff x="0" y="0"/>
                  <a:chExt cx="3505200" cy="457200"/>
                </a:xfrm>
              </p:grpSpPr>
              <p:sp>
                <p:nvSpPr>
                  <p:cNvPr id="292" name="Google Shape;292;p19"/>
                  <p:cNvSpPr/>
                  <p:nvPr/>
                </p:nvSpPr>
                <p:spPr>
                  <a:xfrm>
                    <a:off x="0" y="0"/>
                    <a:ext cx="3505200" cy="457200"/>
                  </a:xfrm>
                  <a:prstGeom prst="roundRect">
                    <a:avLst>
                      <a:gd fmla="val 16666" name="adj"/>
                    </a:avLst>
                  </a:prstGeom>
                  <a:solidFill>
                    <a:srgbClr val="FEF2F2"/>
                  </a:solidFill>
                  <a:ln cap="flat" cmpd="sng" w="9525">
                    <a:solidFill>
                      <a:srgbClr val="FCA5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19"/>
                  <p:cNvSpPr/>
                  <p:nvPr/>
                </p:nvSpPr>
                <p:spPr>
                  <a:xfrm>
                    <a:off x="133350" y="133350"/>
                    <a:ext cx="190500" cy="190500"/>
                  </a:xfrm>
                  <a:prstGeom prst="ellipse">
                    <a:avLst/>
                  </a:prstGeom>
                  <a:solidFill>
                    <a:srgbClr val="EF4444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4" name="Google Shape;294;p19"/>
                  <p:cNvSpPr/>
                  <p:nvPr/>
                </p:nvSpPr>
                <p:spPr>
                  <a:xfrm>
                    <a:off x="200025" y="200025"/>
                    <a:ext cx="57300" cy="57300"/>
                  </a:xfrm>
                  <a:custGeom>
                    <a:rect b="b" l="l" r="r" t="t"/>
                    <a:pathLst>
                      <a:path extrusionOk="0" fill="none" h="120000" w="120000">
                        <a:moveTo>
                          <a:pt x="0" y="0"/>
                        </a:moveTo>
                        <a:lnTo>
                          <a:pt x="120000" y="120000"/>
                        </a:lnTo>
                        <a:moveTo>
                          <a:pt x="120000" y="0"/>
                        </a:move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9050">
                    <a:solidFill>
                      <a:srgbClr val="DC262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5" name="Google Shape;295;p19"/>
                  <p:cNvSpPr txBox="1"/>
                  <p:nvPr/>
                </p:nvSpPr>
                <p:spPr>
                  <a:xfrm>
                    <a:off x="419100" y="0"/>
                    <a:ext cx="29529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950">
                        <a:solidFill>
                          <a:srgbClr val="991B1B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rPr>
                      <a:t>Cold food arrivals</a:t>
                    </a:r>
                    <a:endParaRPr b="0" sz="950">
                      <a:solidFill>
                        <a:srgbClr val="991B1B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endParaRPr>
                  </a:p>
                </p:txBody>
              </p:sp>
            </p:grpSp>
            <p:grpSp>
              <p:nvGrpSpPr>
                <p:cNvPr id="296" name="Google Shape;296;p19"/>
                <p:cNvGrpSpPr/>
                <p:nvPr/>
              </p:nvGrpSpPr>
              <p:grpSpPr>
                <a:xfrm>
                  <a:off x="0" y="533400"/>
                  <a:ext cx="3505200" cy="457200"/>
                  <a:chOff x="0" y="0"/>
                  <a:chExt cx="3505200" cy="457200"/>
                </a:xfrm>
              </p:grpSpPr>
              <p:sp>
                <p:nvSpPr>
                  <p:cNvPr id="297" name="Google Shape;297;p19"/>
                  <p:cNvSpPr/>
                  <p:nvPr/>
                </p:nvSpPr>
                <p:spPr>
                  <a:xfrm>
                    <a:off x="0" y="0"/>
                    <a:ext cx="3505200" cy="457200"/>
                  </a:xfrm>
                  <a:prstGeom prst="roundRect">
                    <a:avLst>
                      <a:gd fmla="val 16666" name="adj"/>
                    </a:avLst>
                  </a:prstGeom>
                  <a:solidFill>
                    <a:srgbClr val="FEF2F2"/>
                  </a:solidFill>
                  <a:ln cap="flat" cmpd="sng" w="9525">
                    <a:solidFill>
                      <a:srgbClr val="FCA5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8" name="Google Shape;298;p19"/>
                  <p:cNvSpPr/>
                  <p:nvPr/>
                </p:nvSpPr>
                <p:spPr>
                  <a:xfrm>
                    <a:off x="133350" y="133350"/>
                    <a:ext cx="190500" cy="190500"/>
                  </a:xfrm>
                  <a:prstGeom prst="ellipse">
                    <a:avLst/>
                  </a:prstGeom>
                  <a:solidFill>
                    <a:srgbClr val="EF4444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9" name="Google Shape;299;p19"/>
                  <p:cNvSpPr/>
                  <p:nvPr/>
                </p:nvSpPr>
                <p:spPr>
                  <a:xfrm>
                    <a:off x="200025" y="200025"/>
                    <a:ext cx="57300" cy="57300"/>
                  </a:xfrm>
                  <a:custGeom>
                    <a:rect b="b" l="l" r="r" t="t"/>
                    <a:pathLst>
                      <a:path extrusionOk="0" fill="none" h="120000" w="120000">
                        <a:moveTo>
                          <a:pt x="0" y="0"/>
                        </a:moveTo>
                        <a:lnTo>
                          <a:pt x="120000" y="120000"/>
                        </a:lnTo>
                        <a:moveTo>
                          <a:pt x="120000" y="0"/>
                        </a:move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9050">
                    <a:solidFill>
                      <a:srgbClr val="DC262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0" name="Google Shape;300;p19"/>
                  <p:cNvSpPr txBox="1"/>
                  <p:nvPr/>
                </p:nvSpPr>
                <p:spPr>
                  <a:xfrm>
                    <a:off x="419100" y="0"/>
                    <a:ext cx="29529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950">
                        <a:solidFill>
                          <a:srgbClr val="991B1B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rPr>
                      <a:t>Missing menu items and order inaccuracies</a:t>
                    </a:r>
                    <a:endParaRPr b="0" sz="950">
                      <a:solidFill>
                        <a:srgbClr val="991B1B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endParaRPr>
                  </a:p>
                </p:txBody>
              </p:sp>
            </p:grpSp>
            <p:grpSp>
              <p:nvGrpSpPr>
                <p:cNvPr id="301" name="Google Shape;301;p19"/>
                <p:cNvGrpSpPr/>
                <p:nvPr/>
              </p:nvGrpSpPr>
              <p:grpSpPr>
                <a:xfrm>
                  <a:off x="0" y="1066800"/>
                  <a:ext cx="3505200" cy="457200"/>
                  <a:chOff x="0" y="0"/>
                  <a:chExt cx="3505200" cy="457200"/>
                </a:xfrm>
              </p:grpSpPr>
              <p:sp>
                <p:nvSpPr>
                  <p:cNvPr id="302" name="Google Shape;302;p19"/>
                  <p:cNvSpPr/>
                  <p:nvPr/>
                </p:nvSpPr>
                <p:spPr>
                  <a:xfrm>
                    <a:off x="0" y="0"/>
                    <a:ext cx="3505200" cy="457200"/>
                  </a:xfrm>
                  <a:prstGeom prst="roundRect">
                    <a:avLst>
                      <a:gd fmla="val 16666" name="adj"/>
                    </a:avLst>
                  </a:prstGeom>
                  <a:solidFill>
                    <a:srgbClr val="FEF2F2"/>
                  </a:solidFill>
                  <a:ln cap="flat" cmpd="sng" w="9525">
                    <a:solidFill>
                      <a:srgbClr val="FCA5A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3" name="Google Shape;303;p19"/>
                  <p:cNvSpPr/>
                  <p:nvPr/>
                </p:nvSpPr>
                <p:spPr>
                  <a:xfrm>
                    <a:off x="133350" y="133350"/>
                    <a:ext cx="190500" cy="190500"/>
                  </a:xfrm>
                  <a:prstGeom prst="ellipse">
                    <a:avLst/>
                  </a:prstGeom>
                  <a:solidFill>
                    <a:srgbClr val="EF4444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19"/>
                  <p:cNvSpPr/>
                  <p:nvPr/>
                </p:nvSpPr>
                <p:spPr>
                  <a:xfrm>
                    <a:off x="200025" y="200025"/>
                    <a:ext cx="57300" cy="57300"/>
                  </a:xfrm>
                  <a:custGeom>
                    <a:rect b="b" l="l" r="r" t="t"/>
                    <a:pathLst>
                      <a:path extrusionOk="0" fill="none" h="120000" w="120000">
                        <a:moveTo>
                          <a:pt x="0" y="0"/>
                        </a:moveTo>
                        <a:lnTo>
                          <a:pt x="120000" y="120000"/>
                        </a:lnTo>
                        <a:moveTo>
                          <a:pt x="120000" y="0"/>
                        </a:moveTo>
                        <a:lnTo>
                          <a:pt x="0" y="120000"/>
                        </a:lnTo>
                      </a:path>
                    </a:pathLst>
                  </a:custGeom>
                  <a:solidFill>
                    <a:srgbClr val="FFFFFF"/>
                  </a:solidFill>
                  <a:ln cap="rnd" cmpd="sng" w="19050">
                    <a:solidFill>
                      <a:srgbClr val="DC2626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19"/>
                  <p:cNvSpPr txBox="1"/>
                  <p:nvPr/>
                </p:nvSpPr>
                <p:spPr>
                  <a:xfrm>
                    <a:off x="419100" y="0"/>
                    <a:ext cx="2952900" cy="457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950">
                        <a:solidFill>
                          <a:srgbClr val="991B1B"/>
                        </a:solidFill>
                        <a:latin typeface="Open Sans SemiBold"/>
                        <a:ea typeface="Open Sans SemiBold"/>
                        <a:cs typeface="Open Sans SemiBold"/>
                        <a:sym typeface="Open Sans SemiBold"/>
                      </a:rPr>
                      <a:t>Unexpected courier transit delays</a:t>
                    </a:r>
                    <a:endParaRPr b="0" sz="950">
                      <a:solidFill>
                        <a:srgbClr val="991B1B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" name="Google Shape;312;p20"/>
          <p:cNvGrpSpPr/>
          <p:nvPr/>
        </p:nvGrpSpPr>
        <p:grpSpPr>
          <a:xfrm>
            <a:off x="571500" y="381000"/>
            <a:ext cx="8001000" cy="628650"/>
            <a:chOff x="0" y="0"/>
            <a:chExt cx="8001000" cy="628650"/>
          </a:xfrm>
        </p:grpSpPr>
        <p:sp>
          <p:nvSpPr>
            <p:cNvPr id="313" name="Google Shape;313;p20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Tip Prediction &amp; Feature Importance</a:t>
              </a:r>
              <a:endParaRPr b="1" sz="24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4" name="Google Shape;314;p20"/>
            <p:cNvSpPr txBox="1"/>
            <p:nvPr/>
          </p:nvSpPr>
          <p:spPr>
            <a:xfrm>
              <a:off x="0" y="40005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Supervised Regression &amp; Driver Incentive Analysis</a:t>
              </a:r>
              <a:endParaRPr b="0" sz="12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20"/>
          <p:cNvGrpSpPr/>
          <p:nvPr/>
        </p:nvGrpSpPr>
        <p:grpSpPr>
          <a:xfrm>
            <a:off x="571500" y="1143000"/>
            <a:ext cx="4381500" cy="3619500"/>
            <a:chOff x="0" y="0"/>
            <a:chExt cx="4381500" cy="3619500"/>
          </a:xfrm>
        </p:grpSpPr>
        <p:sp>
          <p:nvSpPr>
            <p:cNvPr id="316" name="Google Shape;316;p20"/>
            <p:cNvSpPr/>
            <p:nvPr/>
          </p:nvSpPr>
          <p:spPr>
            <a:xfrm>
              <a:off x="0" y="0"/>
              <a:ext cx="4381500" cy="3619500"/>
            </a:xfrm>
            <a:prstGeom prst="roundRect">
              <a:avLst>
                <a:gd fmla="val 31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0" y="0"/>
              <a:ext cx="43815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190500" y="190500"/>
              <a:ext cx="1524000" cy="1905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190500" y="190500"/>
              <a:ext cx="1524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 BENCHMARK</a:t>
              </a:r>
              <a:endParaRPr b="1" sz="8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0" name="Google Shape;320;p20"/>
            <p:cNvSpPr txBox="1"/>
            <p:nvPr/>
          </p:nvSpPr>
          <p:spPr>
            <a:xfrm>
              <a:off x="190500" y="476250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Model Performance Metrics</a:t>
              </a:r>
              <a:endParaRPr b="1" sz="13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190500" y="857250"/>
              <a:ext cx="4000500" cy="2419350"/>
              <a:chOff x="0" y="0"/>
              <a:chExt cx="4000500" cy="2419350"/>
            </a:xfrm>
          </p:grpSpPr>
          <p:sp>
            <p:nvSpPr>
              <p:cNvPr id="322" name="Google Shape;322;p20"/>
              <p:cNvSpPr/>
              <p:nvPr/>
            </p:nvSpPr>
            <p:spPr>
              <a:xfrm>
                <a:off x="0" y="0"/>
                <a:ext cx="4000500" cy="285900"/>
              </a:xfrm>
              <a:prstGeom prst="roundRect">
                <a:avLst>
                  <a:gd fmla="val 13333" name="adj"/>
                </a:avLst>
              </a:prstGeom>
              <a:solidFill>
                <a:srgbClr val="E2E8F0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0"/>
              <p:cNvSpPr txBox="1"/>
              <p:nvPr/>
            </p:nvSpPr>
            <p:spPr>
              <a:xfrm>
                <a:off x="114300" y="0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B556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MODEL</a:t>
                </a:r>
                <a:endParaRPr b="1" sz="900">
                  <a:solidFill>
                    <a:srgbClr val="4B556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24" name="Google Shape;324;p20"/>
              <p:cNvSpPr txBox="1"/>
              <p:nvPr/>
            </p:nvSpPr>
            <p:spPr>
              <a:xfrm>
                <a:off x="1905000" y="0"/>
                <a:ext cx="1981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B556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EVALUATION SUMMARY</a:t>
                </a:r>
                <a:endParaRPr b="1" sz="900">
                  <a:solidFill>
                    <a:srgbClr val="4B556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325" name="Google Shape;325;p20"/>
              <p:cNvGrpSpPr/>
              <p:nvPr/>
            </p:nvGrpSpPr>
            <p:grpSpPr>
              <a:xfrm>
                <a:off x="0" y="361950"/>
                <a:ext cx="4000500" cy="476250"/>
                <a:chOff x="0" y="0"/>
                <a:chExt cx="4000500" cy="47625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0" y="0"/>
                  <a:ext cx="40005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27" name="Google Shape;327;p20"/>
                <p:cNvSpPr txBox="1"/>
                <p:nvPr/>
              </p:nvSpPr>
              <p:spPr>
                <a:xfrm>
                  <a:off x="114300" y="95250"/>
                  <a:ext cx="1714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Linear Regression</a:t>
                  </a:r>
                  <a:endParaRPr b="0" sz="95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</p:txBody>
            </p:sp>
            <p:sp>
              <p:nvSpPr>
                <p:cNvPr id="328" name="Google Shape;328;p20"/>
                <p:cNvSpPr txBox="1"/>
                <p:nvPr/>
              </p:nvSpPr>
              <p:spPr>
                <a:xfrm>
                  <a:off x="1905000" y="95250"/>
                  <a:ext cx="19812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B728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Baseline benchmark evaluated via MAE, RMSE, R².</a:t>
                  </a:r>
                  <a:endParaRPr b="0" sz="850">
                    <a:solidFill>
                      <a:srgbClr val="6B728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29" name="Google Shape;329;p20"/>
              <p:cNvGrpSpPr/>
              <p:nvPr/>
            </p:nvGrpSpPr>
            <p:grpSpPr>
              <a:xfrm>
                <a:off x="0" y="857250"/>
                <a:ext cx="4000500" cy="476250"/>
                <a:chOff x="0" y="0"/>
                <a:chExt cx="4000500" cy="476250"/>
              </a:xfrm>
            </p:grpSpPr>
            <p:cxnSp>
              <p:nvCxnSpPr>
                <p:cNvPr id="330" name="Google Shape;330;p20"/>
                <p:cNvCxnSpPr/>
                <p:nvPr/>
              </p:nvCxnSpPr>
              <p:spPr>
                <a:xfrm>
                  <a:off x="0" y="0"/>
                  <a:ext cx="40005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31" name="Google Shape;331;p20"/>
                <p:cNvSpPr txBox="1"/>
                <p:nvPr/>
              </p:nvSpPr>
              <p:spPr>
                <a:xfrm>
                  <a:off x="114300" y="95250"/>
                  <a:ext cx="1714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Ridge (α=1.0)</a:t>
                  </a:r>
                  <a:endParaRPr b="0" sz="95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</p:txBody>
            </p:sp>
            <p:sp>
              <p:nvSpPr>
                <p:cNvPr id="332" name="Google Shape;332;p20"/>
                <p:cNvSpPr txBox="1"/>
                <p:nvPr/>
              </p:nvSpPr>
              <p:spPr>
                <a:xfrm>
                  <a:off x="1905000" y="95250"/>
                  <a:ext cx="19812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B728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L2 regularization penalizing collinear features.</a:t>
                  </a:r>
                  <a:endParaRPr b="0" sz="850">
                    <a:solidFill>
                      <a:srgbClr val="6B728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33" name="Google Shape;333;p20"/>
              <p:cNvGrpSpPr/>
              <p:nvPr/>
            </p:nvGrpSpPr>
            <p:grpSpPr>
              <a:xfrm>
                <a:off x="0" y="1352550"/>
                <a:ext cx="4000500" cy="476250"/>
                <a:chOff x="0" y="0"/>
                <a:chExt cx="4000500" cy="476250"/>
              </a:xfrm>
            </p:grpSpPr>
            <p:cxnSp>
              <p:nvCxnSpPr>
                <p:cNvPr id="334" name="Google Shape;334;p20"/>
                <p:cNvCxnSpPr/>
                <p:nvPr/>
              </p:nvCxnSpPr>
              <p:spPr>
                <a:xfrm>
                  <a:off x="0" y="0"/>
                  <a:ext cx="40005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335" name="Google Shape;335;p20"/>
                <p:cNvSpPr txBox="1"/>
                <p:nvPr/>
              </p:nvSpPr>
              <p:spPr>
                <a:xfrm>
                  <a:off x="114300" y="95250"/>
                  <a:ext cx="1714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Lasso (α=0.1)</a:t>
                  </a:r>
                  <a:endParaRPr b="0" sz="95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</p:txBody>
            </p:sp>
            <p:sp>
              <p:nvSpPr>
                <p:cNvPr id="336" name="Google Shape;336;p20"/>
                <p:cNvSpPr txBox="1"/>
                <p:nvPr/>
              </p:nvSpPr>
              <p:spPr>
                <a:xfrm>
                  <a:off x="1905000" y="95250"/>
                  <a:ext cx="19812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B728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L1 sparsity regularization.</a:t>
                  </a:r>
                  <a:endParaRPr b="0" sz="850">
                    <a:solidFill>
                      <a:srgbClr val="6B728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337" name="Google Shape;337;p20"/>
              <p:cNvGrpSpPr/>
              <p:nvPr/>
            </p:nvGrpSpPr>
            <p:grpSpPr>
              <a:xfrm>
                <a:off x="0" y="1847850"/>
                <a:ext cx="4000500" cy="571500"/>
                <a:chOff x="0" y="0"/>
                <a:chExt cx="4000500" cy="571500"/>
              </a:xfrm>
            </p:grpSpPr>
            <p:sp>
              <p:nvSpPr>
                <p:cNvPr id="338" name="Google Shape;338;p20"/>
                <p:cNvSpPr/>
                <p:nvPr/>
              </p:nvSpPr>
              <p:spPr>
                <a:xfrm>
                  <a:off x="0" y="0"/>
                  <a:ext cx="4000500" cy="571500"/>
                </a:xfrm>
                <a:prstGeom prst="roundRect">
                  <a:avLst>
                    <a:gd fmla="val 13333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20"/>
                <p:cNvSpPr/>
                <p:nvPr/>
              </p:nvSpPr>
              <p:spPr>
                <a:xfrm>
                  <a:off x="2552700" y="76200"/>
                  <a:ext cx="1333500" cy="1716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6C167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20"/>
                <p:cNvSpPr txBox="1"/>
                <p:nvPr/>
              </p:nvSpPr>
              <p:spPr>
                <a:xfrm>
                  <a:off x="2552700" y="76200"/>
                  <a:ext cx="13335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70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BEST PERFORMER</a:t>
                  </a:r>
                  <a:endParaRPr b="1" sz="7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341" name="Google Shape;341;p20"/>
                <p:cNvSpPr txBox="1"/>
                <p:nvPr/>
              </p:nvSpPr>
              <p:spPr>
                <a:xfrm>
                  <a:off x="114300" y="95250"/>
                  <a:ext cx="1714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9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Random Forest</a:t>
                  </a:r>
                  <a:endParaRPr b="1" sz="9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342" name="Google Shape;342;p20"/>
                <p:cNvSpPr txBox="1"/>
                <p:nvPr/>
              </p:nvSpPr>
              <p:spPr>
                <a:xfrm>
                  <a:off x="1905000" y="266700"/>
                  <a:ext cx="19812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50">
                      <a:solidFill>
                        <a:srgbClr val="6B7280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Lowest MAE &amp; RMSE, highest R² score.</a:t>
                  </a:r>
                  <a:endParaRPr b="0" sz="850">
                    <a:solidFill>
                      <a:srgbClr val="6B7280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  <p:grpSp>
        <p:nvGrpSpPr>
          <p:cNvPr id="343" name="Google Shape;343;p20"/>
          <p:cNvGrpSpPr/>
          <p:nvPr/>
        </p:nvGrpSpPr>
        <p:grpSpPr>
          <a:xfrm>
            <a:off x="5143500" y="1143000"/>
            <a:ext cx="3429000" cy="3619500"/>
            <a:chOff x="0" y="0"/>
            <a:chExt cx="3429000" cy="3619500"/>
          </a:xfrm>
        </p:grpSpPr>
        <p:sp>
          <p:nvSpPr>
            <p:cNvPr id="344" name="Google Shape;344;p2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0" y="0"/>
              <a:ext cx="34290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190500" y="190500"/>
              <a:ext cx="1714500" cy="1905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0"/>
            <p:cNvSpPr txBox="1"/>
            <p:nvPr/>
          </p:nvSpPr>
          <p:spPr>
            <a:xfrm>
              <a:off x="190500" y="1905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FEATURE IMPORTANCE</a:t>
              </a:r>
              <a:endParaRPr b="1" sz="8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8" name="Google Shape;348;p20"/>
            <p:cNvSpPr txBox="1"/>
            <p:nvPr/>
          </p:nvSpPr>
          <p:spPr>
            <a:xfrm>
              <a:off x="190500" y="47625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Top Drivers of Tip Amount</a:t>
              </a:r>
              <a:endParaRPr b="1" sz="13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20"/>
            <p:cNvGrpSpPr/>
            <p:nvPr/>
          </p:nvGrpSpPr>
          <p:grpSpPr>
            <a:xfrm>
              <a:off x="190500" y="904875"/>
              <a:ext cx="3048150" cy="2428800"/>
              <a:chOff x="0" y="0"/>
              <a:chExt cx="3048150" cy="2428800"/>
            </a:xfrm>
          </p:grpSpPr>
          <p:grpSp>
            <p:nvGrpSpPr>
              <p:cNvPr id="350" name="Google Shape;350;p20"/>
              <p:cNvGrpSpPr/>
              <p:nvPr/>
            </p:nvGrpSpPr>
            <p:grpSpPr>
              <a:xfrm>
                <a:off x="0" y="0"/>
                <a:ext cx="3048150" cy="619200"/>
                <a:chOff x="0" y="0"/>
                <a:chExt cx="3048150" cy="619200"/>
              </a:xfrm>
            </p:grpSpPr>
            <p:sp>
              <p:nvSpPr>
                <p:cNvPr id="351" name="Google Shape;351;p20"/>
                <p:cNvSpPr/>
                <p:nvPr/>
              </p:nvSpPr>
              <p:spPr>
                <a:xfrm>
                  <a:off x="0" y="0"/>
                  <a:ext cx="304800" cy="2286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0"/>
                <p:cNvSpPr txBox="1"/>
                <p:nvPr/>
              </p:nvSpPr>
              <p:spPr>
                <a:xfrm>
                  <a:off x="0" y="0"/>
                  <a:ext cx="3048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0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01</a:t>
                  </a:r>
                  <a:endParaRPr b="1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353" name="Google Shape;353;p20"/>
                <p:cNvSpPr txBox="1"/>
                <p:nvPr/>
              </p:nvSpPr>
              <p:spPr>
                <a:xfrm>
                  <a:off x="400050" y="0"/>
                  <a:ext cx="2648100" cy="619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Total Order Spend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Strongest positive correlation with overall tip values.</a:t>
                  </a:r>
                  <a:endParaRPr b="0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cxnSp>
            <p:nvCxnSpPr>
              <p:cNvPr id="354" name="Google Shape;354;p20"/>
              <p:cNvCxnSpPr/>
              <p:nvPr/>
            </p:nvCxnSpPr>
            <p:spPr>
              <a:xfrm>
                <a:off x="0" y="714375"/>
                <a:ext cx="304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55" name="Google Shape;355;p20"/>
              <p:cNvGrpSpPr/>
              <p:nvPr/>
            </p:nvGrpSpPr>
            <p:grpSpPr>
              <a:xfrm>
                <a:off x="0" y="857250"/>
                <a:ext cx="3048150" cy="619200"/>
                <a:chOff x="0" y="0"/>
                <a:chExt cx="3048150" cy="619200"/>
              </a:xfrm>
            </p:grpSpPr>
            <p:sp>
              <p:nvSpPr>
                <p:cNvPr id="356" name="Google Shape;356;p20"/>
                <p:cNvSpPr/>
                <p:nvPr/>
              </p:nvSpPr>
              <p:spPr>
                <a:xfrm>
                  <a:off x="0" y="0"/>
                  <a:ext cx="304800" cy="2286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" name="Google Shape;357;p20"/>
                <p:cNvSpPr txBox="1"/>
                <p:nvPr/>
              </p:nvSpPr>
              <p:spPr>
                <a:xfrm>
                  <a:off x="0" y="0"/>
                  <a:ext cx="3048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0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02</a:t>
                  </a:r>
                  <a:endParaRPr b="1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358" name="Google Shape;358;p20"/>
                <p:cNvSpPr txBox="1"/>
                <p:nvPr/>
              </p:nvSpPr>
              <p:spPr>
                <a:xfrm>
                  <a:off x="400050" y="0"/>
                  <a:ext cx="2648100" cy="619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Delivery Trip Distance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Direct impact on baseline tip expectations over transit mileage.</a:t>
                  </a:r>
                  <a:endParaRPr b="0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cxnSp>
            <p:nvCxnSpPr>
              <p:cNvPr id="359" name="Google Shape;359;p20"/>
              <p:cNvCxnSpPr/>
              <p:nvPr/>
            </p:nvCxnSpPr>
            <p:spPr>
              <a:xfrm>
                <a:off x="0" y="1571625"/>
                <a:ext cx="3048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20"/>
              <p:cNvGrpSpPr/>
              <p:nvPr/>
            </p:nvGrpSpPr>
            <p:grpSpPr>
              <a:xfrm>
                <a:off x="0" y="1714500"/>
                <a:ext cx="3048150" cy="714300"/>
                <a:chOff x="0" y="0"/>
                <a:chExt cx="3048150" cy="714300"/>
              </a:xfrm>
            </p:grpSpPr>
            <p:sp>
              <p:nvSpPr>
                <p:cNvPr id="361" name="Google Shape;361;p20"/>
                <p:cNvSpPr/>
                <p:nvPr/>
              </p:nvSpPr>
              <p:spPr>
                <a:xfrm>
                  <a:off x="0" y="0"/>
                  <a:ext cx="304800" cy="2286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" name="Google Shape;362;p20"/>
                <p:cNvSpPr txBox="1"/>
                <p:nvPr/>
              </p:nvSpPr>
              <p:spPr>
                <a:xfrm>
                  <a:off x="0" y="0"/>
                  <a:ext cx="3048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0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03</a:t>
                  </a:r>
                  <a:endParaRPr b="1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363" name="Google Shape;363;p20"/>
                <p:cNvSpPr txBox="1"/>
                <p:nvPr/>
              </p:nvSpPr>
              <p:spPr>
                <a:xfrm>
                  <a:off x="400050" y="0"/>
                  <a:ext cx="26481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Adverse Weather &amp; Traffic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5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Incentivizes higher effort-based compensation from customers.</a:t>
                  </a:r>
                  <a:endParaRPr b="0" sz="95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0" name="Google Shape;370;p21"/>
          <p:cNvGrpSpPr/>
          <p:nvPr/>
        </p:nvGrpSpPr>
        <p:grpSpPr>
          <a:xfrm>
            <a:off x="571500" y="381000"/>
            <a:ext cx="8001000" cy="628650"/>
            <a:chOff x="0" y="0"/>
            <a:chExt cx="8001000" cy="628650"/>
          </a:xfrm>
        </p:grpSpPr>
        <p:sp>
          <p:nvSpPr>
            <p:cNvPr id="371" name="Google Shape;371;p21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Hourly Demand Forecasting: ARIMA vs. Prophet</a:t>
              </a:r>
              <a:endParaRPr b="1" sz="24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0" y="40005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Time-Series Order Demand Forecasting</a:t>
              </a:r>
              <a:endParaRPr b="0" sz="12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21"/>
          <p:cNvGrpSpPr/>
          <p:nvPr/>
        </p:nvGrpSpPr>
        <p:grpSpPr>
          <a:xfrm>
            <a:off x="571500" y="1143000"/>
            <a:ext cx="8001000" cy="3619500"/>
            <a:chOff x="0" y="0"/>
            <a:chExt cx="8001000" cy="3619500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0" y="0"/>
              <a:ext cx="2476500" cy="3619500"/>
              <a:chOff x="0" y="0"/>
              <a:chExt cx="2476500" cy="3619500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0" y="0"/>
                <a:ext cx="2476500" cy="3619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190500" y="1905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 txBox="1"/>
              <p:nvPr/>
            </p:nvSpPr>
            <p:spPr>
              <a:xfrm>
                <a:off x="190500" y="1905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DIAGNOSTICS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79" name="Google Shape;379;p21"/>
              <p:cNvSpPr txBox="1"/>
              <p:nvPr/>
            </p:nvSpPr>
            <p:spPr>
              <a:xfrm>
                <a:off x="190500" y="476250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8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Time-Series Diagnostics</a:t>
                </a:r>
                <a:endParaRPr b="1" sz="1008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380" name="Google Shape;380;p21"/>
              <p:cNvGrpSpPr/>
              <p:nvPr/>
            </p:nvGrpSpPr>
            <p:grpSpPr>
              <a:xfrm>
                <a:off x="190500" y="904875"/>
                <a:ext cx="2095500" cy="1047900"/>
                <a:chOff x="0" y="0"/>
                <a:chExt cx="2095500" cy="1047900"/>
              </a:xfrm>
            </p:grpSpPr>
            <p:sp>
              <p:nvSpPr>
                <p:cNvPr id="381" name="Google Shape;381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" name="Google Shape;382;p21"/>
                <p:cNvSpPr/>
                <p:nvPr/>
              </p:nvSpPr>
              <p:spPr>
                <a:xfrm>
                  <a:off x="57150" y="66675"/>
                  <a:ext cx="762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0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21"/>
                <p:cNvSpPr txBox="1"/>
                <p:nvPr/>
              </p:nvSpPr>
              <p:spPr>
                <a:xfrm>
                  <a:off x="266700" y="0"/>
                  <a:ext cx="18288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ADF Stationarity Test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879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Confirmed non-stationarity of raw series; differencing required for statistical stability.</a:t>
                  </a:r>
                  <a:endParaRPr b="0" sz="879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cxnSp>
            <p:nvCxnSpPr>
              <p:cNvPr id="384" name="Google Shape;384;p21"/>
              <p:cNvCxnSpPr/>
              <p:nvPr/>
            </p:nvCxnSpPr>
            <p:spPr>
              <a:xfrm>
                <a:off x="190500" y="2143125"/>
                <a:ext cx="2095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85" name="Google Shape;385;p21"/>
              <p:cNvGrpSpPr/>
              <p:nvPr/>
            </p:nvGrpSpPr>
            <p:grpSpPr>
              <a:xfrm>
                <a:off x="190500" y="2286000"/>
                <a:ext cx="2095500" cy="1047900"/>
                <a:chOff x="0" y="0"/>
                <a:chExt cx="2095500" cy="1047900"/>
              </a:xfrm>
            </p:grpSpPr>
            <p:sp>
              <p:nvSpPr>
                <p:cNvPr id="386" name="Google Shape;386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" name="Google Shape;387;p21"/>
                <p:cNvSpPr/>
                <p:nvPr/>
              </p:nvSpPr>
              <p:spPr>
                <a:xfrm>
                  <a:off x="57150" y="66675"/>
                  <a:ext cx="762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0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21"/>
                <p:cNvSpPr txBox="1"/>
                <p:nvPr/>
              </p:nvSpPr>
              <p:spPr>
                <a:xfrm>
                  <a:off x="266700" y="0"/>
                  <a:ext cx="18288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Decomposition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879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Additive decomposition isolating 7-day cyclical weekly seasonality and macro trends.</a:t>
                  </a:r>
                  <a:endParaRPr b="0" sz="879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389" name="Google Shape;389;p21"/>
            <p:cNvGrpSpPr/>
            <p:nvPr/>
          </p:nvGrpSpPr>
          <p:grpSpPr>
            <a:xfrm>
              <a:off x="2762250" y="0"/>
              <a:ext cx="2476500" cy="3619500"/>
              <a:chOff x="0" y="0"/>
              <a:chExt cx="2476500" cy="3619500"/>
            </a:xfrm>
          </p:grpSpPr>
          <p:sp>
            <p:nvSpPr>
              <p:cNvPr id="390" name="Google Shape;390;p21"/>
              <p:cNvSpPr/>
              <p:nvPr/>
            </p:nvSpPr>
            <p:spPr>
              <a:xfrm>
                <a:off x="0" y="0"/>
                <a:ext cx="2476500" cy="3619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190500" y="1905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1"/>
              <p:cNvSpPr txBox="1"/>
              <p:nvPr/>
            </p:nvSpPr>
            <p:spPr>
              <a:xfrm>
                <a:off x="190500" y="1905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BENCHMARK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94" name="Google Shape;394;p21"/>
              <p:cNvSpPr txBox="1"/>
              <p:nvPr/>
            </p:nvSpPr>
            <p:spPr>
              <a:xfrm>
                <a:off x="190500" y="476250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8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Validation &amp; Model Evaluation</a:t>
                </a:r>
                <a:endParaRPr b="1" sz="1008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395" name="Google Shape;395;p21"/>
              <p:cNvGrpSpPr/>
              <p:nvPr/>
            </p:nvGrpSpPr>
            <p:grpSpPr>
              <a:xfrm>
                <a:off x="190500" y="904875"/>
                <a:ext cx="2095500" cy="1047900"/>
                <a:chOff x="0" y="0"/>
                <a:chExt cx="2095500" cy="1047900"/>
              </a:xfrm>
            </p:grpSpPr>
            <p:sp>
              <p:nvSpPr>
                <p:cNvPr id="396" name="Google Shape;396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" name="Google Shape;397;p21"/>
                <p:cNvSpPr/>
                <p:nvPr/>
              </p:nvSpPr>
              <p:spPr>
                <a:xfrm>
                  <a:off x="57150" y="66675"/>
                  <a:ext cx="762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0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p21"/>
                <p:cNvSpPr txBox="1"/>
                <p:nvPr/>
              </p:nvSpPr>
              <p:spPr>
                <a:xfrm>
                  <a:off x="266700" y="0"/>
                  <a:ext cx="18288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Chronological Split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879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Chronological 80/20 train/test split preserving temporal integrity (no data shuffling).</a:t>
                  </a:r>
                  <a:endParaRPr b="0" sz="879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cxnSp>
            <p:nvCxnSpPr>
              <p:cNvPr id="399" name="Google Shape;399;p21"/>
              <p:cNvCxnSpPr/>
              <p:nvPr/>
            </p:nvCxnSpPr>
            <p:spPr>
              <a:xfrm>
                <a:off x="190500" y="2143125"/>
                <a:ext cx="20955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00" name="Google Shape;400;p21"/>
              <p:cNvGrpSpPr/>
              <p:nvPr/>
            </p:nvGrpSpPr>
            <p:grpSpPr>
              <a:xfrm>
                <a:off x="190500" y="2286000"/>
                <a:ext cx="2095500" cy="1047900"/>
                <a:chOff x="0" y="0"/>
                <a:chExt cx="2095500" cy="1047900"/>
              </a:xfrm>
            </p:grpSpPr>
            <p:sp>
              <p:nvSpPr>
                <p:cNvPr id="401" name="Google Shape;401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6C167">
                    <a:alpha val="15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" name="Google Shape;402;p21"/>
                <p:cNvSpPr/>
                <p:nvPr/>
              </p:nvSpPr>
              <p:spPr>
                <a:xfrm>
                  <a:off x="57150" y="66675"/>
                  <a:ext cx="762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0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" name="Google Shape;403;p21"/>
                <p:cNvSpPr txBox="1"/>
                <p:nvPr/>
              </p:nvSpPr>
              <p:spPr>
                <a:xfrm>
                  <a:off x="266700" y="0"/>
                  <a:ext cx="18288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050">
                      <a:solidFill>
                        <a:srgbClr val="11182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Prophet Performance</a:t>
                  </a:r>
                  <a:endParaRPr b="1" sz="105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879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Prophet delivered superior out-of-sample RMSE over ARIMA(1,1,1) by modeling recurring weekend peaks.</a:t>
                  </a:r>
                  <a:endParaRPr b="0" sz="879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  <p:grpSp>
          <p:nvGrpSpPr>
            <p:cNvPr id="404" name="Google Shape;404;p21"/>
            <p:cNvGrpSpPr/>
            <p:nvPr/>
          </p:nvGrpSpPr>
          <p:grpSpPr>
            <a:xfrm>
              <a:off x="5524500" y="0"/>
              <a:ext cx="2476500" cy="3619500"/>
              <a:chOff x="0" y="0"/>
              <a:chExt cx="2476500" cy="3619500"/>
            </a:xfrm>
          </p:grpSpPr>
          <p:sp>
            <p:nvSpPr>
              <p:cNvPr id="405" name="Google Shape;405;p21"/>
              <p:cNvSpPr/>
              <p:nvPr/>
            </p:nvSpPr>
            <p:spPr>
              <a:xfrm>
                <a:off x="0" y="0"/>
                <a:ext cx="2476500" cy="3619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190500" y="1905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1"/>
              <p:cNvSpPr txBox="1"/>
              <p:nvPr/>
            </p:nvSpPr>
            <p:spPr>
              <a:xfrm>
                <a:off x="190500" y="1905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FORWARD FORECAST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09" name="Google Shape;409;p21"/>
              <p:cNvSpPr txBox="1"/>
              <p:nvPr/>
            </p:nvSpPr>
            <p:spPr>
              <a:xfrm>
                <a:off x="190500" y="476250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8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14-Day Demand Horizon</a:t>
                </a:r>
                <a:endParaRPr b="1" sz="1008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410" name="Google Shape;410;p21"/>
              <p:cNvGrpSpPr/>
              <p:nvPr/>
            </p:nvGrpSpPr>
            <p:grpSpPr>
              <a:xfrm>
                <a:off x="190500" y="904875"/>
                <a:ext cx="2095500" cy="2381400"/>
                <a:chOff x="0" y="0"/>
                <a:chExt cx="2095500" cy="2381400"/>
              </a:xfrm>
            </p:grpSpPr>
            <p:sp>
              <p:nvSpPr>
                <p:cNvPr id="411" name="Google Shape;411;p21"/>
                <p:cNvSpPr/>
                <p:nvPr/>
              </p:nvSpPr>
              <p:spPr>
                <a:xfrm>
                  <a:off x="0" y="0"/>
                  <a:ext cx="2095500" cy="2381400"/>
                </a:xfrm>
                <a:prstGeom prst="roundRect">
                  <a:avLst>
                    <a:gd fmla="val 3636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12" name="Google Shape;412;p21"/>
                <p:cNvGrpSpPr/>
                <p:nvPr/>
              </p:nvGrpSpPr>
              <p:grpSpPr>
                <a:xfrm>
                  <a:off x="142875" y="247650"/>
                  <a:ext cx="1809600" cy="1133475"/>
                  <a:chOff x="0" y="104775"/>
                  <a:chExt cx="1809600" cy="1133475"/>
                </a:xfrm>
              </p:grpSpPr>
              <p:pic>
                <p:nvPicPr>
                  <p:cNvPr id="413" name="Google Shape;413;p2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90488" y="257175"/>
                    <a:ext cx="1681200" cy="895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4" name="Google Shape;414;p21"/>
                  <p:cNvSpPr/>
                  <p:nvPr/>
                </p:nvSpPr>
                <p:spPr>
                  <a:xfrm>
                    <a:off x="95250" y="142875"/>
                    <a:ext cx="1666800" cy="10002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120000"/>
                        </a:moveTo>
                        <a:lnTo>
                          <a:pt x="17143" y="108571"/>
                        </a:lnTo>
                        <a:lnTo>
                          <a:pt x="34286" y="114286"/>
                        </a:lnTo>
                        <a:lnTo>
                          <a:pt x="51429" y="17143"/>
                        </a:lnTo>
                        <a:lnTo>
                          <a:pt x="68571" y="91429"/>
                        </a:lnTo>
                        <a:lnTo>
                          <a:pt x="85714" y="97143"/>
                        </a:lnTo>
                        <a:lnTo>
                          <a:pt x="102857" y="0"/>
                        </a:lnTo>
                        <a:lnTo>
                          <a:pt x="120000" y="8000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flat" cmpd="sng" w="23825">
                    <a:solidFill>
                      <a:srgbClr val="06C167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5" name="Google Shape;415;p21"/>
                  <p:cNvSpPr/>
                  <p:nvPr/>
                </p:nvSpPr>
                <p:spPr>
                  <a:xfrm>
                    <a:off x="1485900" y="104775"/>
                    <a:ext cx="76200" cy="76200"/>
                  </a:xfrm>
                  <a:prstGeom prst="ellipse">
                    <a:avLst/>
                  </a:prstGeom>
                  <a:solidFill>
                    <a:srgbClr val="06C16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6" name="Google Shape;416;p21"/>
                  <p:cNvSpPr/>
                  <p:nvPr/>
                </p:nvSpPr>
                <p:spPr>
                  <a:xfrm>
                    <a:off x="771525" y="247650"/>
                    <a:ext cx="76200" cy="76200"/>
                  </a:xfrm>
                  <a:prstGeom prst="ellipse">
                    <a:avLst/>
                  </a:prstGeom>
                  <a:solidFill>
                    <a:srgbClr val="06C16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cxnSp>
                <p:nvCxnSpPr>
                  <p:cNvPr id="417" name="Google Shape;417;p21"/>
                  <p:cNvCxnSpPr/>
                  <p:nvPr/>
                </p:nvCxnSpPr>
                <p:spPr>
                  <a:xfrm>
                    <a:off x="0" y="1238250"/>
                    <a:ext cx="1809600" cy="0"/>
                  </a:xfrm>
                  <a:prstGeom prst="straightConnector1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E2E8F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418" name="Google Shape;418;p21"/>
                <p:cNvSpPr txBox="1"/>
                <p:nvPr/>
              </p:nvSpPr>
              <p:spPr>
                <a:xfrm>
                  <a:off x="142875" y="1524000"/>
                  <a:ext cx="1809600" cy="71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79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Peak Surges</a:t>
                  </a:r>
                  <a:endParaRPr b="0" sz="879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879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Predicts consistent dinner demand surges between 6:00 PM and 9:00 PM on Friday and Saturday evenings.</a:t>
                  </a:r>
                  <a:endParaRPr b="0" sz="879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22"/>
          <p:cNvGrpSpPr/>
          <p:nvPr/>
        </p:nvGrpSpPr>
        <p:grpSpPr>
          <a:xfrm>
            <a:off x="571500" y="381000"/>
            <a:ext cx="8001000" cy="628650"/>
            <a:chOff x="0" y="0"/>
            <a:chExt cx="8001000" cy="628650"/>
          </a:xfrm>
        </p:grpSpPr>
        <p:sp>
          <p:nvSpPr>
            <p:cNvPr id="426" name="Google Shape;426;p22"/>
            <p:cNvSpPr txBox="1"/>
            <p:nvPr/>
          </p:nvSpPr>
          <p:spPr>
            <a:xfrm>
              <a:off x="0" y="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Data-Backed Business Recommendations</a:t>
              </a:r>
              <a:endParaRPr b="1" sz="2400">
                <a:solidFill>
                  <a:srgbClr val="11182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27" name="Google Shape;427;p22"/>
            <p:cNvSpPr txBox="1"/>
            <p:nvPr/>
          </p:nvSpPr>
          <p:spPr>
            <a:xfrm>
              <a:off x="0" y="400050"/>
              <a:ext cx="800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6B7280"/>
                  </a:solidFill>
                  <a:latin typeface="Open Sans"/>
                  <a:ea typeface="Open Sans"/>
                  <a:cs typeface="Open Sans"/>
                  <a:sym typeface="Open Sans"/>
                </a:rPr>
                <a:t>Strategic Business Impact &amp; Action Plan</a:t>
              </a:r>
              <a:endParaRPr b="0" sz="1200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28" name="Google Shape;428;p22"/>
          <p:cNvGrpSpPr/>
          <p:nvPr/>
        </p:nvGrpSpPr>
        <p:grpSpPr>
          <a:xfrm>
            <a:off x="571500" y="1143000"/>
            <a:ext cx="8001000" cy="3619500"/>
            <a:chOff x="0" y="0"/>
            <a:chExt cx="8001000" cy="3619500"/>
          </a:xfrm>
        </p:grpSpPr>
        <p:grpSp>
          <p:nvGrpSpPr>
            <p:cNvPr id="429" name="Google Shape;429;p22"/>
            <p:cNvGrpSpPr/>
            <p:nvPr/>
          </p:nvGrpSpPr>
          <p:grpSpPr>
            <a:xfrm>
              <a:off x="0" y="0"/>
              <a:ext cx="2476500" cy="3619500"/>
              <a:chOff x="0" y="0"/>
              <a:chExt cx="2476500" cy="3619500"/>
            </a:xfrm>
          </p:grpSpPr>
          <p:sp>
            <p:nvSpPr>
              <p:cNvPr id="430" name="Google Shape;430;p22"/>
              <p:cNvSpPr/>
              <p:nvPr/>
            </p:nvSpPr>
            <p:spPr>
              <a:xfrm>
                <a:off x="0" y="0"/>
                <a:ext cx="2476500" cy="3619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2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2"/>
              <p:cNvSpPr/>
              <p:nvPr/>
            </p:nvSpPr>
            <p:spPr>
              <a:xfrm>
                <a:off x="190500" y="1905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2"/>
              <p:cNvSpPr txBox="1"/>
              <p:nvPr/>
            </p:nvSpPr>
            <p:spPr>
              <a:xfrm>
                <a:off x="190500" y="1905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CAPACITY ALLOCATION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4" name="Google Shape;434;p22"/>
              <p:cNvSpPr txBox="1"/>
              <p:nvPr/>
            </p:nvSpPr>
            <p:spPr>
              <a:xfrm>
                <a:off x="190500" y="47625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Dynamic Capacity Allocation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435" name="Google Shape;435;p22"/>
              <p:cNvGrpSpPr/>
              <p:nvPr/>
            </p:nvGrpSpPr>
            <p:grpSpPr>
              <a:xfrm>
                <a:off x="190500" y="952500"/>
                <a:ext cx="2095500" cy="1047900"/>
                <a:chOff x="0" y="0"/>
                <a:chExt cx="2095500" cy="1047900"/>
              </a:xfrm>
            </p:grpSpPr>
            <p:sp>
              <p:nvSpPr>
                <p:cNvPr id="436" name="Google Shape;436;p22"/>
                <p:cNvSpPr/>
                <p:nvPr/>
              </p:nvSpPr>
              <p:spPr>
                <a:xfrm>
                  <a:off x="0" y="0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22"/>
                <p:cNvSpPr txBox="1"/>
                <p:nvPr/>
              </p:nvSpPr>
              <p:spPr>
                <a:xfrm>
                  <a:off x="95250" y="95250"/>
                  <a:ext cx="19050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INSIGHT</a:t>
                  </a:r>
                  <a:endParaRPr b="1" sz="8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Forecasted dinner volume surges trigger courier supply deficits.</a:t>
                  </a:r>
                  <a:endParaRPr b="0" sz="90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438" name="Google Shape;438;p22"/>
              <p:cNvGrpSpPr/>
              <p:nvPr/>
            </p:nvGrpSpPr>
            <p:grpSpPr>
              <a:xfrm>
                <a:off x="190500" y="2143125"/>
                <a:ext cx="2095500" cy="1285800"/>
                <a:chOff x="0" y="0"/>
                <a:chExt cx="2095500" cy="1285800"/>
              </a:xfrm>
            </p:grpSpPr>
            <p:sp>
              <p:nvSpPr>
                <p:cNvPr id="439" name="Google Shape;439;p22"/>
                <p:cNvSpPr/>
                <p:nvPr/>
              </p:nvSpPr>
              <p:spPr>
                <a:xfrm>
                  <a:off x="0" y="0"/>
                  <a:ext cx="2095500" cy="1285800"/>
                </a:xfrm>
                <a:prstGeom prst="roundRect">
                  <a:avLst>
                    <a:gd fmla="val 5925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22"/>
                <p:cNvSpPr txBox="1"/>
                <p:nvPr/>
              </p:nvSpPr>
              <p:spPr>
                <a:xfrm>
                  <a:off x="95250" y="95250"/>
                  <a:ext cx="1905000" cy="10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ACTION MANDATE</a:t>
                  </a:r>
                  <a:endParaRPr b="1" sz="8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Deploy pre-scheduled driver surge incentives during Friday/Saturday dinner windows to prevent delivery delays.</a:t>
                  </a:r>
                  <a:endParaRPr b="0" sz="90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</p:txBody>
            </p:sp>
          </p:grpSp>
        </p:grpSp>
        <p:grpSp>
          <p:nvGrpSpPr>
            <p:cNvPr id="441" name="Google Shape;441;p22"/>
            <p:cNvGrpSpPr/>
            <p:nvPr/>
          </p:nvGrpSpPr>
          <p:grpSpPr>
            <a:xfrm>
              <a:off x="2762250" y="0"/>
              <a:ext cx="2476500" cy="3619500"/>
              <a:chOff x="0" y="0"/>
              <a:chExt cx="2476500" cy="3619500"/>
            </a:xfrm>
          </p:grpSpPr>
          <p:sp>
            <p:nvSpPr>
              <p:cNvPr id="442" name="Google Shape;442;p22"/>
              <p:cNvSpPr/>
              <p:nvPr/>
            </p:nvSpPr>
            <p:spPr>
              <a:xfrm>
                <a:off x="0" y="0"/>
                <a:ext cx="2476500" cy="3619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190500" y="1905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2"/>
              <p:cNvSpPr txBox="1"/>
              <p:nvPr/>
            </p:nvSpPr>
            <p:spPr>
              <a:xfrm>
                <a:off x="190500" y="1905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CUSTOMER RETENTION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46" name="Google Shape;446;p22"/>
              <p:cNvSpPr txBox="1"/>
              <p:nvPr/>
            </p:nvSpPr>
            <p:spPr>
              <a:xfrm>
                <a:off x="190500" y="47625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VIP Customer Retention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447" name="Google Shape;447;p22"/>
              <p:cNvGrpSpPr/>
              <p:nvPr/>
            </p:nvGrpSpPr>
            <p:grpSpPr>
              <a:xfrm>
                <a:off x="190500" y="952500"/>
                <a:ext cx="2095500" cy="1047900"/>
                <a:chOff x="0" y="0"/>
                <a:chExt cx="2095500" cy="1047900"/>
              </a:xfrm>
            </p:grpSpPr>
            <p:sp>
              <p:nvSpPr>
                <p:cNvPr id="448" name="Google Shape;448;p22"/>
                <p:cNvSpPr/>
                <p:nvPr/>
              </p:nvSpPr>
              <p:spPr>
                <a:xfrm>
                  <a:off x="0" y="0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2"/>
                <p:cNvSpPr txBox="1"/>
                <p:nvPr/>
              </p:nvSpPr>
              <p:spPr>
                <a:xfrm>
                  <a:off x="95250" y="95250"/>
                  <a:ext cx="19050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INSIGHT</a:t>
                  </a:r>
                  <a:endParaRPr b="1" sz="8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Premium frequent diners generate the highest basket sizes.</a:t>
                  </a:r>
                  <a:endParaRPr b="0" sz="90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450" name="Google Shape;450;p22"/>
              <p:cNvGrpSpPr/>
              <p:nvPr/>
            </p:nvGrpSpPr>
            <p:grpSpPr>
              <a:xfrm>
                <a:off x="190500" y="2143125"/>
                <a:ext cx="2095500" cy="1285800"/>
                <a:chOff x="0" y="0"/>
                <a:chExt cx="2095500" cy="1285800"/>
              </a:xfrm>
            </p:grpSpPr>
            <p:sp>
              <p:nvSpPr>
                <p:cNvPr id="451" name="Google Shape;451;p22"/>
                <p:cNvSpPr/>
                <p:nvPr/>
              </p:nvSpPr>
              <p:spPr>
                <a:xfrm>
                  <a:off x="0" y="0"/>
                  <a:ext cx="2095500" cy="1285800"/>
                </a:xfrm>
                <a:prstGeom prst="roundRect">
                  <a:avLst>
                    <a:gd fmla="val 5925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22"/>
                <p:cNvSpPr txBox="1"/>
                <p:nvPr/>
              </p:nvSpPr>
              <p:spPr>
                <a:xfrm>
                  <a:off x="95250" y="95250"/>
                  <a:ext cx="1905000" cy="10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ACTION MANDATE</a:t>
                  </a:r>
                  <a:endParaRPr b="1" sz="8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Implement targeted loyalty tiers, zero delivery fees over fixed thresholds, and curated partner promotions.</a:t>
                  </a:r>
                  <a:endParaRPr b="0" sz="90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</p:txBody>
            </p:sp>
          </p:grpSp>
        </p:grpSp>
        <p:grpSp>
          <p:nvGrpSpPr>
            <p:cNvPr id="453" name="Google Shape;453;p22"/>
            <p:cNvGrpSpPr/>
            <p:nvPr/>
          </p:nvGrpSpPr>
          <p:grpSpPr>
            <a:xfrm>
              <a:off x="5524500" y="0"/>
              <a:ext cx="2476500" cy="3619500"/>
              <a:chOff x="0" y="0"/>
              <a:chExt cx="2476500" cy="3619500"/>
            </a:xfrm>
          </p:grpSpPr>
          <p:sp>
            <p:nvSpPr>
              <p:cNvPr id="454" name="Google Shape;454;p22"/>
              <p:cNvSpPr/>
              <p:nvPr/>
            </p:nvSpPr>
            <p:spPr>
              <a:xfrm>
                <a:off x="0" y="0"/>
                <a:ext cx="2476500" cy="3619500"/>
              </a:xfrm>
              <a:prstGeom prst="roundRect">
                <a:avLst>
                  <a:gd fmla="val 461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0" y="0"/>
                <a:ext cx="24765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6C16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190500" y="190500"/>
                <a:ext cx="17145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06C167">
                  <a:alpha val="1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2"/>
              <p:cNvSpPr txBox="1"/>
              <p:nvPr/>
            </p:nvSpPr>
            <p:spPr>
              <a:xfrm>
                <a:off x="190500" y="19050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QUALITY ASSURANCE</a:t>
                </a:r>
                <a:endParaRPr b="1" sz="8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58" name="Google Shape;458;p22"/>
              <p:cNvSpPr txBox="1"/>
              <p:nvPr/>
            </p:nvSpPr>
            <p:spPr>
              <a:xfrm>
                <a:off x="190500" y="47625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11827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Vendor Quality Audits</a:t>
                </a:r>
                <a:endParaRPr b="1" sz="1200">
                  <a:solidFill>
                    <a:srgbClr val="111827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grpSp>
            <p:nvGrpSpPr>
              <p:cNvPr id="459" name="Google Shape;459;p22"/>
              <p:cNvGrpSpPr/>
              <p:nvPr/>
            </p:nvGrpSpPr>
            <p:grpSpPr>
              <a:xfrm>
                <a:off x="190500" y="952500"/>
                <a:ext cx="2095500" cy="1047900"/>
                <a:chOff x="0" y="0"/>
                <a:chExt cx="2095500" cy="1047900"/>
              </a:xfrm>
            </p:grpSpPr>
            <p:sp>
              <p:nvSpPr>
                <p:cNvPr id="460" name="Google Shape;460;p22"/>
                <p:cNvSpPr/>
                <p:nvPr/>
              </p:nvSpPr>
              <p:spPr>
                <a:xfrm>
                  <a:off x="0" y="0"/>
                  <a:ext cx="2095500" cy="1047900"/>
                </a:xfrm>
                <a:prstGeom prst="roundRect">
                  <a:avLst>
                    <a:gd fmla="val 7272" name="adj"/>
                  </a:avLst>
                </a:prstGeom>
                <a:solidFill>
                  <a:srgbClr val="FFFFFF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22"/>
                <p:cNvSpPr txBox="1"/>
                <p:nvPr/>
              </p:nvSpPr>
              <p:spPr>
                <a:xfrm>
                  <a:off x="95250" y="95250"/>
                  <a:ext cx="19050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INSIGHT</a:t>
                  </a:r>
                  <a:endParaRPr b="1" sz="8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4B5563"/>
                      </a:solidFill>
                      <a:latin typeface="Open Sans"/>
                      <a:ea typeface="Open Sans"/>
                      <a:cs typeface="Open Sans"/>
                      <a:sym typeface="Open Sans"/>
                    </a:rPr>
                    <a:t>Negative reviews trace back to vendor prep delays and missing items.</a:t>
                  </a:r>
                  <a:endParaRPr b="0" sz="900">
                    <a:solidFill>
                      <a:srgbClr val="4B5563"/>
                    </a:solidFill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462" name="Google Shape;462;p22"/>
              <p:cNvGrpSpPr/>
              <p:nvPr/>
            </p:nvGrpSpPr>
            <p:grpSpPr>
              <a:xfrm>
                <a:off x="190500" y="2143125"/>
                <a:ext cx="2095500" cy="1285800"/>
                <a:chOff x="0" y="0"/>
                <a:chExt cx="2095500" cy="1285800"/>
              </a:xfrm>
            </p:grpSpPr>
            <p:sp>
              <p:nvSpPr>
                <p:cNvPr id="463" name="Google Shape;463;p22"/>
                <p:cNvSpPr/>
                <p:nvPr/>
              </p:nvSpPr>
              <p:spPr>
                <a:xfrm>
                  <a:off x="0" y="0"/>
                  <a:ext cx="2095500" cy="1285800"/>
                </a:xfrm>
                <a:prstGeom prst="roundRect">
                  <a:avLst>
                    <a:gd fmla="val 5925" name="adj"/>
                  </a:avLst>
                </a:prstGeom>
                <a:solidFill>
                  <a:srgbClr val="FFFFFF"/>
                </a:solidFill>
                <a:ln cap="flat" cmpd="sng" w="14300">
                  <a:solidFill>
                    <a:srgbClr val="06C167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2"/>
                <p:cNvSpPr txBox="1"/>
                <p:nvPr/>
              </p:nvSpPr>
              <p:spPr>
                <a:xfrm>
                  <a:off x="95250" y="95250"/>
                  <a:ext cx="1905000" cy="10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50">
                      <a:solidFill>
                        <a:srgbClr val="06C167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ACTION MANDATE</a:t>
                  </a:r>
                  <a:endParaRPr b="1" sz="850">
                    <a:solidFill>
                      <a:srgbClr val="06C167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900">
                      <a:solidFill>
                        <a:srgbClr val="111827"/>
                      </a:solidFill>
                      <a:latin typeface="Open Sans SemiBold"/>
                      <a:ea typeface="Open Sans SemiBold"/>
                      <a:cs typeface="Open Sans SemiBold"/>
                      <a:sym typeface="Open Sans SemiBold"/>
                    </a:rPr>
                    <a:t>Establish mandatory preparation time thresholds and order verification steps for the underperforming vendor cluster.</a:t>
                  </a:r>
                  <a:endParaRPr b="0" sz="900">
                    <a:solidFill>
                      <a:srgbClr val="111827"/>
                    </a:solidFill>
                    <a:latin typeface="Open Sans SemiBold"/>
                    <a:ea typeface="Open Sans SemiBold"/>
                    <a:cs typeface="Open Sans SemiBold"/>
                    <a:sym typeface="Open Sans SemiBold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3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0" name="Google Shape;470;p23"/>
          <p:cNvGrpSpPr/>
          <p:nvPr/>
        </p:nvGrpSpPr>
        <p:grpSpPr>
          <a:xfrm>
            <a:off x="571500" y="333375"/>
            <a:ext cx="8001000" cy="533400"/>
            <a:chOff x="0" y="0"/>
            <a:chExt cx="8001000" cy="533400"/>
          </a:xfrm>
        </p:grpSpPr>
        <p:sp>
          <p:nvSpPr>
            <p:cNvPr id="471" name="Google Shape;471;p23"/>
            <p:cNvSpPr txBox="1"/>
            <p:nvPr/>
          </p:nvSpPr>
          <p:spPr>
            <a:xfrm>
              <a:off x="0" y="0"/>
              <a:ext cx="8001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3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System Limitations &amp; Future Roadmap</a:t>
              </a:r>
              <a:endParaRPr b="1" sz="203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2" name="Google Shape;472;p23"/>
            <p:cNvSpPr txBox="1"/>
            <p:nvPr/>
          </p:nvSpPr>
          <p:spPr>
            <a:xfrm>
              <a:off x="0" y="342900"/>
              <a:ext cx="8001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rPr>
                <a:t>Constraints, Assumptions &amp; Production Scale Vision</a:t>
              </a:r>
              <a:endParaRPr b="0" sz="1100">
                <a:solidFill>
                  <a:srgbClr val="9CA3A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73" name="Google Shape;473;p23"/>
          <p:cNvGrpSpPr/>
          <p:nvPr/>
        </p:nvGrpSpPr>
        <p:grpSpPr>
          <a:xfrm>
            <a:off x="571500" y="1047750"/>
            <a:ext cx="3857700" cy="3238500"/>
            <a:chOff x="0" y="0"/>
            <a:chExt cx="3857700" cy="3238500"/>
          </a:xfrm>
        </p:grpSpPr>
        <p:sp>
          <p:nvSpPr>
            <p:cNvPr id="474" name="Google Shape;474;p23"/>
            <p:cNvSpPr/>
            <p:nvPr/>
          </p:nvSpPr>
          <p:spPr>
            <a:xfrm>
              <a:off x="0" y="0"/>
              <a:ext cx="3857700" cy="3238500"/>
            </a:xfrm>
            <a:prstGeom prst="roundRect">
              <a:avLst>
                <a:gd fmla="val 3529" name="adj"/>
              </a:avLst>
            </a:pr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0" y="0"/>
              <a:ext cx="3857700" cy="381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190500" y="152400"/>
              <a:ext cx="1714500" cy="190500"/>
            </a:xfrm>
            <a:prstGeom prst="roundRect">
              <a:avLst>
                <a:gd fmla="val 50000" name="adj"/>
              </a:avLst>
            </a:prstGeom>
            <a:solidFill>
              <a:srgbClr val="EF4444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 txBox="1"/>
            <p:nvPr/>
          </p:nvSpPr>
          <p:spPr>
            <a:xfrm>
              <a:off x="190500" y="1524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FCA5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ASSUMPTIONS &amp; CONSTRAINTS</a:t>
              </a:r>
              <a:endParaRPr b="1" sz="750">
                <a:solidFill>
                  <a:srgbClr val="FCA5A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8" name="Google Shape;478;p23"/>
            <p:cNvSpPr txBox="1"/>
            <p:nvPr/>
          </p:nvSpPr>
          <p:spPr>
            <a:xfrm>
              <a:off x="190500" y="419100"/>
              <a:ext cx="3476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Current System Boundaries</a:t>
              </a:r>
              <a:endParaRPr b="1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79" name="Google Shape;479;p23"/>
            <p:cNvGrpSpPr/>
            <p:nvPr/>
          </p:nvGrpSpPr>
          <p:grpSpPr>
            <a:xfrm>
              <a:off x="190500" y="762000"/>
              <a:ext cx="3476700" cy="619200"/>
              <a:chOff x="0" y="0"/>
              <a:chExt cx="3476700" cy="619200"/>
            </a:xfrm>
          </p:grpSpPr>
          <p:sp>
            <p:nvSpPr>
              <p:cNvPr id="480" name="Google Shape;480;p2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EF4444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3"/>
              <p:cNvSpPr/>
              <p:nvPr/>
            </p:nvSpPr>
            <p:spPr>
              <a:xfrm>
                <a:off x="66675" y="66675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120000"/>
                    </a:lnTo>
                    <a:moveTo>
                      <a:pt x="12000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3"/>
              <p:cNvSpPr txBox="1"/>
              <p:nvPr/>
            </p:nvSpPr>
            <p:spPr>
              <a:xfrm>
                <a:off x="266700" y="0"/>
                <a:ext cx="3210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3F4F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Synthetic Distribution</a:t>
                </a:r>
                <a:endParaRPr b="1" sz="950">
                  <a:solidFill>
                    <a:srgbClr val="F3F4F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CA3A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Generated data lacks non-linear human edge cases and operational disruptions.</a:t>
                </a:r>
                <a:endParaRPr b="0" sz="85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483" name="Google Shape;483;p23"/>
            <p:cNvCxnSpPr/>
            <p:nvPr/>
          </p:nvCxnSpPr>
          <p:spPr>
            <a:xfrm>
              <a:off x="190500" y="1476375"/>
              <a:ext cx="3476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84" name="Google Shape;484;p23"/>
            <p:cNvGrpSpPr/>
            <p:nvPr/>
          </p:nvGrpSpPr>
          <p:grpSpPr>
            <a:xfrm>
              <a:off x="190500" y="1571625"/>
              <a:ext cx="3476700" cy="619200"/>
              <a:chOff x="0" y="0"/>
              <a:chExt cx="3476700" cy="619200"/>
            </a:xfrm>
          </p:grpSpPr>
          <p:sp>
            <p:nvSpPr>
              <p:cNvPr id="485" name="Google Shape;485;p2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EF4444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3"/>
              <p:cNvSpPr/>
              <p:nvPr/>
            </p:nvSpPr>
            <p:spPr>
              <a:xfrm>
                <a:off x="66675" y="66675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120000"/>
                    </a:lnTo>
                    <a:moveTo>
                      <a:pt x="12000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3"/>
              <p:cNvSpPr txBox="1"/>
              <p:nvPr/>
            </p:nvSpPr>
            <p:spPr>
              <a:xfrm>
                <a:off x="266700" y="0"/>
                <a:ext cx="3210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3F4F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Static Macro Assumptions</a:t>
                </a:r>
                <a:endParaRPr b="1" sz="950">
                  <a:solidFill>
                    <a:srgbClr val="F3F4F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CA3A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Time-series models require dynamic recalibration during unexpected seasonal disruptions.</a:t>
                </a:r>
                <a:endParaRPr b="0" sz="85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488" name="Google Shape;488;p23"/>
            <p:cNvCxnSpPr/>
            <p:nvPr/>
          </p:nvCxnSpPr>
          <p:spPr>
            <a:xfrm>
              <a:off x="190500" y="2286000"/>
              <a:ext cx="3476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89" name="Google Shape;489;p23"/>
            <p:cNvGrpSpPr/>
            <p:nvPr/>
          </p:nvGrpSpPr>
          <p:grpSpPr>
            <a:xfrm>
              <a:off x="190500" y="2381250"/>
              <a:ext cx="3476700" cy="619200"/>
              <a:chOff x="0" y="0"/>
              <a:chExt cx="3476700" cy="619200"/>
            </a:xfrm>
          </p:grpSpPr>
          <p:sp>
            <p:nvSpPr>
              <p:cNvPr id="490" name="Google Shape;490;p2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EF4444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66675" y="66675"/>
                <a:ext cx="57300" cy="573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120000"/>
                    </a:lnTo>
                    <a:moveTo>
                      <a:pt x="12000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3"/>
              <p:cNvSpPr txBox="1"/>
              <p:nvPr/>
            </p:nvSpPr>
            <p:spPr>
              <a:xfrm>
                <a:off x="266700" y="0"/>
                <a:ext cx="3210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3F4F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Tip Variance</a:t>
                </a:r>
                <a:endParaRPr b="1" sz="950">
                  <a:solidFill>
                    <a:srgbClr val="F3F4F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CA3A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Subjective customer tipping sentiment cannot be entirely explained by spatial distance and order total.</a:t>
                </a:r>
                <a:endParaRPr b="0" sz="85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493" name="Google Shape;493;p23"/>
          <p:cNvGrpSpPr/>
          <p:nvPr/>
        </p:nvGrpSpPr>
        <p:grpSpPr>
          <a:xfrm>
            <a:off x="4714875" y="1047750"/>
            <a:ext cx="3857700" cy="3238500"/>
            <a:chOff x="0" y="0"/>
            <a:chExt cx="3857700" cy="3238500"/>
          </a:xfrm>
        </p:grpSpPr>
        <p:sp>
          <p:nvSpPr>
            <p:cNvPr id="494" name="Google Shape;494;p23"/>
            <p:cNvSpPr/>
            <p:nvPr/>
          </p:nvSpPr>
          <p:spPr>
            <a:xfrm>
              <a:off x="0" y="0"/>
              <a:ext cx="3857700" cy="3238500"/>
            </a:xfrm>
            <a:prstGeom prst="roundRect">
              <a:avLst>
                <a:gd fmla="val 3529" name="adj"/>
              </a:avLst>
            </a:pr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0" y="0"/>
              <a:ext cx="3857700" cy="38100"/>
            </a:xfrm>
            <a:prstGeom prst="roundRect">
              <a:avLst>
                <a:gd fmla="val 50000" name="adj"/>
              </a:avLst>
            </a:prstGeom>
            <a:solidFill>
              <a:srgbClr val="06C16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190500" y="152400"/>
              <a:ext cx="1714500" cy="190500"/>
            </a:xfrm>
            <a:prstGeom prst="roundRect">
              <a:avLst>
                <a:gd fmla="val 50000" name="adj"/>
              </a:avLst>
            </a:prstGeom>
            <a:solidFill>
              <a:srgbClr val="06C167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3"/>
            <p:cNvSpPr txBox="1"/>
            <p:nvPr/>
          </p:nvSpPr>
          <p:spPr>
            <a:xfrm>
              <a:off x="190500" y="15240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PRODUCTION ROADMAP</a:t>
              </a:r>
              <a:endParaRPr b="1" sz="75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8" name="Google Shape;498;p23"/>
            <p:cNvSpPr txBox="1"/>
            <p:nvPr/>
          </p:nvSpPr>
          <p:spPr>
            <a:xfrm>
              <a:off x="190500" y="419100"/>
              <a:ext cx="3476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Technical Scope</a:t>
              </a:r>
              <a:endParaRPr b="1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99" name="Google Shape;499;p23"/>
            <p:cNvGrpSpPr/>
            <p:nvPr/>
          </p:nvGrpSpPr>
          <p:grpSpPr>
            <a:xfrm>
              <a:off x="190500" y="762000"/>
              <a:ext cx="3476700" cy="619200"/>
              <a:chOff x="0" y="0"/>
              <a:chExt cx="3476700" cy="619200"/>
            </a:xfrm>
          </p:grpSpPr>
          <p:sp>
            <p:nvSpPr>
              <p:cNvPr id="500" name="Google Shape;500;p2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3"/>
              <p:cNvSpPr txBox="1"/>
              <p:nvPr/>
            </p:nvSpPr>
            <p:spPr>
              <a:xfrm>
                <a:off x="266700" y="0"/>
                <a:ext cx="3210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3F4F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Deep Learning NLP</a:t>
                </a:r>
                <a:endParaRPr b="1" sz="950">
                  <a:solidFill>
                    <a:srgbClr val="F3F4F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CA3A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Upgrade review analysis to Transformer models (BERT/RoBERTa) to detect subtle context and sarcasm.</a:t>
                </a:r>
                <a:endParaRPr b="0" sz="85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503" name="Google Shape;503;p23"/>
            <p:cNvCxnSpPr/>
            <p:nvPr/>
          </p:nvCxnSpPr>
          <p:spPr>
            <a:xfrm>
              <a:off x="190500" y="1476375"/>
              <a:ext cx="3476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04" name="Google Shape;504;p23"/>
            <p:cNvGrpSpPr/>
            <p:nvPr/>
          </p:nvGrpSpPr>
          <p:grpSpPr>
            <a:xfrm>
              <a:off x="190500" y="1571625"/>
              <a:ext cx="3476700" cy="619200"/>
              <a:chOff x="0" y="0"/>
              <a:chExt cx="3476700" cy="619200"/>
            </a:xfrm>
          </p:grpSpPr>
          <p:sp>
            <p:nvSpPr>
              <p:cNvPr id="505" name="Google Shape;505;p2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3"/>
              <p:cNvSpPr txBox="1"/>
              <p:nvPr/>
            </p:nvSpPr>
            <p:spPr>
              <a:xfrm>
                <a:off x="266700" y="0"/>
                <a:ext cx="3210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3F4F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Streaming Architecture</a:t>
                </a:r>
                <a:endParaRPr b="1" sz="950">
                  <a:solidFill>
                    <a:srgbClr val="F3F4F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CA3A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Transition batch models to streaming data pipelines (Apache Kafka) for live dispatch scoring.</a:t>
                </a:r>
                <a:endParaRPr b="0" sz="85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cxnSp>
          <p:nvCxnSpPr>
            <p:cNvPr id="508" name="Google Shape;508;p23"/>
            <p:cNvCxnSpPr/>
            <p:nvPr/>
          </p:nvCxnSpPr>
          <p:spPr>
            <a:xfrm>
              <a:off x="190500" y="2286000"/>
              <a:ext cx="34767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09" name="Google Shape;509;p23"/>
            <p:cNvGrpSpPr/>
            <p:nvPr/>
          </p:nvGrpSpPr>
          <p:grpSpPr>
            <a:xfrm>
              <a:off x="190500" y="2381250"/>
              <a:ext cx="3476700" cy="619200"/>
              <a:chOff x="0" y="0"/>
              <a:chExt cx="3476700" cy="619200"/>
            </a:xfrm>
          </p:grpSpPr>
          <p:sp>
            <p:nvSpPr>
              <p:cNvPr id="510" name="Google Shape;510;p23"/>
              <p:cNvSpPr/>
              <p:nvPr/>
            </p:nvSpPr>
            <p:spPr>
              <a:xfrm>
                <a:off x="0" y="0"/>
                <a:ext cx="190500" cy="190500"/>
              </a:xfrm>
              <a:prstGeom prst="ellipse">
                <a:avLst/>
              </a:prstGeom>
              <a:solidFill>
                <a:srgbClr val="06C167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3"/>
              <p:cNvSpPr/>
              <p:nvPr/>
            </p:nvSpPr>
            <p:spPr>
              <a:xfrm>
                <a:off x="57150" y="6667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06C16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3"/>
              <p:cNvSpPr txBox="1"/>
              <p:nvPr/>
            </p:nvSpPr>
            <p:spPr>
              <a:xfrm>
                <a:off x="266700" y="0"/>
                <a:ext cx="32100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3F4F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API Deployment</a:t>
                </a:r>
                <a:endParaRPr b="1" sz="950">
                  <a:solidFill>
                    <a:srgbClr val="F3F4F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9CA3A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Containerize models using Docker and deploy inference endpoints via FastAPI.</a:t>
                </a:r>
                <a:endParaRPr b="0" sz="850">
                  <a:solidFill>
                    <a:srgbClr val="9CA3A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513" name="Google Shape;513;p23"/>
          <p:cNvGrpSpPr/>
          <p:nvPr/>
        </p:nvGrpSpPr>
        <p:grpSpPr>
          <a:xfrm>
            <a:off x="566738" y="4471988"/>
            <a:ext cx="8010600" cy="409500"/>
            <a:chOff x="-4762" y="-4762"/>
            <a:chExt cx="8010600" cy="409500"/>
          </a:xfrm>
        </p:grpSpPr>
        <p:pic>
          <p:nvPicPr>
            <p:cNvPr id="514" name="Google Shape;51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4762" y="-4762"/>
              <a:ext cx="80106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23"/>
            <p:cNvSpPr txBox="1"/>
            <p:nvPr/>
          </p:nvSpPr>
          <p:spPr>
            <a:xfrm>
              <a:off x="0" y="0"/>
              <a:ext cx="800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6C16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End of Capstone Presentation — Ready for Q&amp;A</a:t>
              </a:r>
              <a:endParaRPr b="1" sz="1000">
                <a:solidFill>
                  <a:srgbClr val="06C16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